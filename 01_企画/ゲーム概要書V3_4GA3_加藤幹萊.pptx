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9"/>
  </p:notesMasterIdLst>
  <p:handoutMasterIdLst>
    <p:handoutMasterId r:id="rId10"/>
  </p:handoutMasterIdLst>
  <p:sldIdLst>
    <p:sldId id="440" r:id="rId5"/>
    <p:sldId id="441" r:id="rId6"/>
    <p:sldId id="444" r:id="rId7"/>
    <p:sldId id="443" r:id="rId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BE5D6"/>
    <a:srgbClr val="50D04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26EB3-7820-EF71-D8F7-14A2EEFBA89B}" v="33" dt="2026-04-17T01:04:40.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72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CC78B4-D4EA-4E83-A43A-6FA5A0F7D0B3}" type="datetimeFigureOut">
              <a:rPr kumimoji="1" lang="ja-JP" altLang="en-US" smtClean="0"/>
              <a:t>2026/10/6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4F567-5817-4092-8EEB-419011F58ED9}" type="slidenum">
              <a:rPr kumimoji="1" lang="ja-JP" altLang="en-US" smtClean="0"/>
              <a:t>‹#›</a:t>
            </a:fld>
            <a:endParaRPr kumimoji="1" lang="ja-JP" altLang="en-US"/>
          </a:p>
        </p:txBody>
      </p:sp>
    </p:spTree>
    <p:extLst>
      <p:ext uri="{BB962C8B-B14F-4D97-AF65-F5344CB8AC3E}">
        <p14:creationId xmlns:p14="http://schemas.microsoft.com/office/powerpoint/2010/main" val="16635217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BB1B21-716A-4773-A420-9B5CE6E28AE2}" type="datetimeFigureOut">
              <a:rPr kumimoji="1" lang="ja-JP" altLang="en-US" smtClean="0"/>
              <a:t>2026/10/6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94227-4E8D-4547-92A9-04B1088AF56D}" type="slidenum">
              <a:rPr kumimoji="1" lang="ja-JP" altLang="en-US" smtClean="0"/>
              <a:t>‹#›</a:t>
            </a:fld>
            <a:endParaRPr kumimoji="1" lang="ja-JP" altLang="en-US"/>
          </a:p>
        </p:txBody>
      </p:sp>
    </p:spTree>
    <p:extLst>
      <p:ext uri="{BB962C8B-B14F-4D97-AF65-F5344CB8AC3E}">
        <p14:creationId xmlns:p14="http://schemas.microsoft.com/office/powerpoint/2010/main" val="13084980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1</a:t>
            </a:fld>
            <a:endParaRPr kumimoji="1" lang="ja-JP" altLang="en-US"/>
          </a:p>
        </p:txBody>
      </p:sp>
    </p:spTree>
    <p:extLst>
      <p:ext uri="{BB962C8B-B14F-4D97-AF65-F5344CB8AC3E}">
        <p14:creationId xmlns:p14="http://schemas.microsoft.com/office/powerpoint/2010/main" val="1379145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2</a:t>
            </a:fld>
            <a:endParaRPr kumimoji="1" lang="ja-JP" altLang="en-US"/>
          </a:p>
        </p:txBody>
      </p:sp>
    </p:spTree>
    <p:extLst>
      <p:ext uri="{BB962C8B-B14F-4D97-AF65-F5344CB8AC3E}">
        <p14:creationId xmlns:p14="http://schemas.microsoft.com/office/powerpoint/2010/main" val="2498570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3</a:t>
            </a:fld>
            <a:endParaRPr kumimoji="1" lang="ja-JP" altLang="en-US"/>
          </a:p>
        </p:txBody>
      </p:sp>
    </p:spTree>
    <p:extLst>
      <p:ext uri="{BB962C8B-B14F-4D97-AF65-F5344CB8AC3E}">
        <p14:creationId xmlns:p14="http://schemas.microsoft.com/office/powerpoint/2010/main" val="1430123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0394227-4E8D-4547-92A9-04B1088AF56D}" type="slidenum">
              <a:rPr kumimoji="1" lang="ja-JP" altLang="en-US" smtClean="0"/>
              <a:t>4</a:t>
            </a:fld>
            <a:endParaRPr kumimoji="1" lang="ja-JP" altLang="en-US"/>
          </a:p>
        </p:txBody>
      </p:sp>
    </p:spTree>
    <p:extLst>
      <p:ext uri="{BB962C8B-B14F-4D97-AF65-F5344CB8AC3E}">
        <p14:creationId xmlns:p14="http://schemas.microsoft.com/office/powerpoint/2010/main" val="221656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75360" y="1596249"/>
            <a:ext cx="11054080" cy="3395698"/>
          </a:xfrm>
        </p:spPr>
        <p:txBody>
          <a:bodyPr anchor="b"/>
          <a:lstStyle>
            <a:lvl1pPr algn="ctr">
              <a:defRPr sz="8533"/>
            </a:lvl1pPr>
          </a:lstStyle>
          <a:p>
            <a:r>
              <a:rPr lang="ja-JP" altLang="en-US"/>
              <a:t>マスター タイトルの書式設定</a:t>
            </a:r>
            <a:endParaRPr lang="en-US"/>
          </a:p>
        </p:txBody>
      </p:sp>
      <p:sp>
        <p:nvSpPr>
          <p:cNvPr id="3" name="Subtitle 2"/>
          <p:cNvSpPr>
            <a:spLocks noGrp="1"/>
          </p:cNvSpPr>
          <p:nvPr>
            <p:ph type="subTitle" idx="1"/>
          </p:nvPr>
        </p:nvSpPr>
        <p:spPr>
          <a:xfrm>
            <a:off x="1625600" y="5122898"/>
            <a:ext cx="9753600" cy="2354862"/>
          </a:xfrm>
        </p:spPr>
        <p:txBody>
          <a:bodyPr/>
          <a:lstStyle>
            <a:lvl1pPr marL="0" indent="0" algn="ctr">
              <a:buNone/>
              <a:defRPr sz="3413"/>
            </a:lvl1pPr>
            <a:lvl2pPr marL="650230" indent="0" algn="ctr">
              <a:buNone/>
              <a:defRPr sz="2844"/>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12326DE7-6362-45FB-80B6-F8887A987F74}" type="datetime1">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10078720" y="9234311"/>
            <a:ext cx="2926080" cy="519289"/>
          </a:xfrm>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093123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354F063-2530-4F1C-AB5B-9D9DE17668FE}" type="datetime1">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10078720" y="9223052"/>
            <a:ext cx="2926080" cy="519289"/>
          </a:xfrm>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63943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87307" y="2431629"/>
            <a:ext cx="11216640" cy="4057226"/>
          </a:xfrm>
        </p:spPr>
        <p:txBody>
          <a:bodyPr anchor="b"/>
          <a:lstStyle>
            <a:lvl1pPr>
              <a:defRPr sz="8533"/>
            </a:lvl1pPr>
          </a:lstStyle>
          <a:p>
            <a:r>
              <a:rPr lang="ja-JP" altLang="en-US"/>
              <a:t>マスター タイトルの書式設定</a:t>
            </a:r>
            <a:endParaRPr lang="en-US"/>
          </a:p>
        </p:txBody>
      </p:sp>
      <p:sp>
        <p:nvSpPr>
          <p:cNvPr id="3" name="Text Placeholder 2"/>
          <p:cNvSpPr>
            <a:spLocks noGrp="1"/>
          </p:cNvSpPr>
          <p:nvPr>
            <p:ph type="body" idx="1"/>
          </p:nvPr>
        </p:nvSpPr>
        <p:spPr>
          <a:xfrm>
            <a:off x="887307" y="6527239"/>
            <a:ext cx="11216640" cy="2133599"/>
          </a:xfrm>
        </p:spPr>
        <p:txBody>
          <a:bodyPr/>
          <a:lstStyle>
            <a:lvl1pPr marL="0" indent="0">
              <a:buNone/>
              <a:defRPr sz="3413">
                <a:solidFill>
                  <a:schemeClr val="tx1"/>
                </a:solidFill>
              </a:defRPr>
            </a:lvl1pPr>
            <a:lvl2pPr marL="650230" indent="0">
              <a:buNone/>
              <a:defRPr sz="2844">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7494A9C-0BE6-426B-BA97-ED8EA34CDCEB}" type="datetime1">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09810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94080" y="2596444"/>
            <a:ext cx="5527040" cy="61885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583680" y="2596444"/>
            <a:ext cx="5527040" cy="618857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4D701CC-F81F-4FAE-8D03-865955CA638F}" type="datetime1">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89276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95774" y="519291"/>
            <a:ext cx="11216640" cy="1885245"/>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95775" y="2390987"/>
            <a:ext cx="5501639"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ja-JP" altLang="en-US"/>
              <a:t>マスター テキストの書式設定</a:t>
            </a:r>
          </a:p>
        </p:txBody>
      </p:sp>
      <p:sp>
        <p:nvSpPr>
          <p:cNvPr id="4" name="Content Placeholder 3"/>
          <p:cNvSpPr>
            <a:spLocks noGrp="1"/>
          </p:cNvSpPr>
          <p:nvPr>
            <p:ph sz="half" idx="2"/>
          </p:nvPr>
        </p:nvSpPr>
        <p:spPr>
          <a:xfrm>
            <a:off x="895775" y="3562773"/>
            <a:ext cx="5501639" cy="52403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583681" y="2390987"/>
            <a:ext cx="5528734"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ja-JP" altLang="en-US"/>
              <a:t>マスター テキストの書式設定</a:t>
            </a:r>
          </a:p>
        </p:txBody>
      </p:sp>
      <p:sp>
        <p:nvSpPr>
          <p:cNvPr id="6" name="Content Placeholder 5"/>
          <p:cNvSpPr>
            <a:spLocks noGrp="1"/>
          </p:cNvSpPr>
          <p:nvPr>
            <p:ph sz="quarter" idx="4"/>
          </p:nvPr>
        </p:nvSpPr>
        <p:spPr>
          <a:xfrm>
            <a:off x="6583681" y="3562773"/>
            <a:ext cx="5528734" cy="52403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938D44DF-24CA-43E2-9093-3396243AA9AB}" type="datetime1">
              <a:rPr kumimoji="1" lang="ja-JP" altLang="en-US" smtClean="0"/>
              <a:t>2026/10/6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52374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0BED3613-0D91-4125-A766-A2F45B449B2D}" type="datetime1">
              <a:rPr kumimoji="1" lang="ja-JP" altLang="en-US" smtClean="0"/>
              <a:t>2026/10/6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46703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CBB27-9AAA-41C2-B253-2D106947EC5E}" type="datetime1">
              <a:rPr kumimoji="1" lang="ja-JP" altLang="en-US" smtClean="0"/>
              <a:t>2026/10/6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124563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95774" y="650240"/>
            <a:ext cx="4194386" cy="2275840"/>
          </a:xfrm>
        </p:spPr>
        <p:txBody>
          <a:bodyPr anchor="b"/>
          <a:lstStyle>
            <a:lvl1pPr>
              <a:defRPr sz="4551"/>
            </a:lvl1pPr>
          </a:lstStyle>
          <a:p>
            <a:r>
              <a:rPr lang="ja-JP" altLang="en-US"/>
              <a:t>マスター タイトルの書式設定</a:t>
            </a:r>
            <a:endParaRPr lang="en-US"/>
          </a:p>
        </p:txBody>
      </p:sp>
      <p:sp>
        <p:nvSpPr>
          <p:cNvPr id="3" name="Content Placeholder 2"/>
          <p:cNvSpPr>
            <a:spLocks noGrp="1"/>
          </p:cNvSpPr>
          <p:nvPr>
            <p:ph idx="1"/>
          </p:nvPr>
        </p:nvSpPr>
        <p:spPr>
          <a:xfrm>
            <a:off x="5528734" y="1404340"/>
            <a:ext cx="6583680" cy="6931378"/>
          </a:xfrm>
        </p:spPr>
        <p:txBody>
          <a:bodyPr/>
          <a:lstStyle>
            <a:lvl1pPr>
              <a:defRPr sz="4551"/>
            </a:lvl1pPr>
            <a:lvl2pPr>
              <a:defRPr sz="3982"/>
            </a:lvl2pPr>
            <a:lvl3pPr>
              <a:defRPr sz="3413"/>
            </a:lvl3pPr>
            <a:lvl4pPr>
              <a:defRPr sz="2844"/>
            </a:lvl4pPr>
            <a:lvl5pPr>
              <a:defRPr sz="2844"/>
            </a:lvl5pPr>
            <a:lvl6pPr>
              <a:defRPr sz="2844"/>
            </a:lvl6pPr>
            <a:lvl7pPr>
              <a:defRPr sz="2844"/>
            </a:lvl7pPr>
            <a:lvl8pPr>
              <a:defRPr sz="2844"/>
            </a:lvl8pPr>
            <a:lvl9pPr>
              <a:defRPr sz="284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95774" y="2926080"/>
            <a:ext cx="41943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4D48FA-3FA4-474C-AE70-9A9080B18688}" type="datetime1">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401797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95774" y="650240"/>
            <a:ext cx="4194386" cy="2275840"/>
          </a:xfrm>
        </p:spPr>
        <p:txBody>
          <a:bodyPr anchor="b"/>
          <a:lstStyle>
            <a:lvl1pPr>
              <a:defRPr sz="4551"/>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528734" y="1404340"/>
            <a:ext cx="6583680" cy="6931378"/>
          </a:xfrm>
        </p:spPr>
        <p:txBody>
          <a:bodyPr anchor="t"/>
          <a:lstStyle>
            <a:lvl1pPr marL="0" indent="0">
              <a:buNone/>
              <a:defRPr sz="4551"/>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95774" y="2926080"/>
            <a:ext cx="41943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2B450C2-176F-4CDC-A949-402CABB185D5}" type="datetime1">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178674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12AC9B59-3BF3-4B80-B26E-7562A8BFA88C}" type="datetime1">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66539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06561" y="519289"/>
            <a:ext cx="2804160" cy="8265725"/>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94081" y="519289"/>
            <a:ext cx="8249920" cy="82657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7179E815-7981-4C74-AEC5-ED53767866CB}" type="datetime1">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3772476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4080" y="519291"/>
            <a:ext cx="11216640" cy="188524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94080" y="2596444"/>
            <a:ext cx="11216640" cy="618857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94080" y="9040144"/>
            <a:ext cx="2926080"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9E529F21-9341-413A-8868-D34EC7AB7037}" type="datetime1">
              <a:rPr kumimoji="1" lang="ja-JP" altLang="en-US" smtClean="0"/>
              <a:t>2026/10/6</a:t>
            </a:fld>
            <a:endParaRPr kumimoji="1" lang="ja-JP" altLang="en-US"/>
          </a:p>
        </p:txBody>
      </p:sp>
      <p:sp>
        <p:nvSpPr>
          <p:cNvPr id="5" name="Footer Placeholder 4"/>
          <p:cNvSpPr>
            <a:spLocks noGrp="1"/>
          </p:cNvSpPr>
          <p:nvPr>
            <p:ph type="ftr" sz="quarter" idx="3"/>
          </p:nvPr>
        </p:nvSpPr>
        <p:spPr>
          <a:xfrm>
            <a:off x="4307840" y="9040144"/>
            <a:ext cx="4389120" cy="519289"/>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9184640" y="9040144"/>
            <a:ext cx="2926080" cy="519289"/>
          </a:xfrm>
          <a:prstGeom prst="rect">
            <a:avLst/>
          </a:prstGeom>
        </p:spPr>
        <p:txBody>
          <a:bodyPr vert="horz" lIns="91440" tIns="45720" rIns="91440" bIns="45720" rtlCol="0" anchor="ctr"/>
          <a:lstStyle>
            <a:lvl1pPr algn="r">
              <a:defRPr sz="1707">
                <a:solidFill>
                  <a:schemeClr val="tx1">
                    <a:tint val="75000"/>
                  </a:schemeClr>
                </a:solidFill>
              </a:defRPr>
            </a:lvl1pPr>
          </a:lstStyle>
          <a:p>
            <a:fld id="{BC35E930-166D-4714-9079-DEEFE5E5DE49}" type="slidenum">
              <a:rPr kumimoji="1" lang="ja-JP" altLang="en-US" smtClean="0"/>
              <a:t>‹#›</a:t>
            </a:fld>
            <a:endParaRPr kumimoji="1" lang="ja-JP" altLang="en-US"/>
          </a:p>
        </p:txBody>
      </p:sp>
    </p:spTree>
    <p:extLst>
      <p:ext uri="{BB962C8B-B14F-4D97-AF65-F5344CB8AC3E}">
        <p14:creationId xmlns:p14="http://schemas.microsoft.com/office/powerpoint/2010/main" val="26193911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1300460" rtl="0" eaLnBrk="1" latinLnBrk="0" hangingPunct="1">
        <a:lnSpc>
          <a:spcPct val="90000"/>
        </a:lnSpc>
        <a:spcBef>
          <a:spcPct val="0"/>
        </a:spcBef>
        <a:buNone/>
        <a:defRPr kumimoji="1" sz="6258" kern="1200">
          <a:solidFill>
            <a:schemeClr val="tx1"/>
          </a:solidFill>
          <a:latin typeface="+mj-lt"/>
          <a:ea typeface="+mj-ea"/>
          <a:cs typeface="+mj-cs"/>
        </a:defRPr>
      </a:lvl1pPr>
    </p:titleStyle>
    <p:bodyStyle>
      <a:lvl1pPr marL="325115" indent="-325115" algn="l" defTabSz="1300460" rtl="0" eaLnBrk="1" latinLnBrk="0" hangingPunct="1">
        <a:lnSpc>
          <a:spcPct val="90000"/>
        </a:lnSpc>
        <a:spcBef>
          <a:spcPts val="1422"/>
        </a:spcBef>
        <a:buFont typeface="Arial" panose="020B0604020202020204" pitchFamily="34" charset="0"/>
        <a:buChar char="•"/>
        <a:defRPr kumimoji="1" sz="3982" kern="1200">
          <a:solidFill>
            <a:schemeClr val="tx1"/>
          </a:solidFill>
          <a:latin typeface="+mn-lt"/>
          <a:ea typeface="+mn-ea"/>
          <a:cs typeface="+mn-cs"/>
        </a:defRPr>
      </a:lvl1pPr>
      <a:lvl2pPr marL="975345" indent="-325115" algn="l" defTabSz="1300460" rtl="0" eaLnBrk="1" latinLnBrk="0" hangingPunct="1">
        <a:lnSpc>
          <a:spcPct val="90000"/>
        </a:lnSpc>
        <a:spcBef>
          <a:spcPts val="711"/>
        </a:spcBef>
        <a:buFont typeface="Arial" panose="020B0604020202020204" pitchFamily="34" charset="0"/>
        <a:buChar char="•"/>
        <a:defRPr kumimoji="1" sz="3413" kern="1200">
          <a:solidFill>
            <a:schemeClr val="tx1"/>
          </a:solidFill>
          <a:latin typeface="+mn-lt"/>
          <a:ea typeface="+mn-ea"/>
          <a:cs typeface="+mn-cs"/>
        </a:defRPr>
      </a:lvl2pPr>
      <a:lvl3pPr marL="1625575" indent="-325115" algn="l" defTabSz="1300460" rtl="0" eaLnBrk="1" latinLnBrk="0" hangingPunct="1">
        <a:lnSpc>
          <a:spcPct val="90000"/>
        </a:lnSpc>
        <a:spcBef>
          <a:spcPts val="711"/>
        </a:spcBef>
        <a:buFont typeface="Arial" panose="020B0604020202020204" pitchFamily="34" charset="0"/>
        <a:buChar char="•"/>
        <a:defRPr kumimoji="1" sz="2844" kern="1200">
          <a:solidFill>
            <a:schemeClr val="tx1"/>
          </a:solidFill>
          <a:latin typeface="+mn-lt"/>
          <a:ea typeface="+mn-ea"/>
          <a:cs typeface="+mn-cs"/>
        </a:defRPr>
      </a:lvl3pPr>
      <a:lvl4pPr marL="227580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4pPr>
      <a:lvl5pPr marL="292603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5pPr>
      <a:lvl6pPr marL="357626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649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72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954" indent="-325115" algn="l" defTabSz="1300460"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p:bodyStyle>
    <p:otherStyle>
      <a:defPPr>
        <a:defRPr lang="en-US"/>
      </a:defPPr>
      <a:lvl1pPr marL="0" algn="l" defTabSz="1300460" rtl="0" eaLnBrk="1" latinLnBrk="0" hangingPunct="1">
        <a:defRPr kumimoji="1" sz="2560" kern="1200">
          <a:solidFill>
            <a:schemeClr val="tx1"/>
          </a:solidFill>
          <a:latin typeface="+mn-lt"/>
          <a:ea typeface="+mn-ea"/>
          <a:cs typeface="+mn-cs"/>
        </a:defRPr>
      </a:lvl1pPr>
      <a:lvl2pPr marL="650230" algn="l" defTabSz="1300460" rtl="0" eaLnBrk="1" latinLnBrk="0" hangingPunct="1">
        <a:defRPr kumimoji="1" sz="2560" kern="1200">
          <a:solidFill>
            <a:schemeClr val="tx1"/>
          </a:solidFill>
          <a:latin typeface="+mn-lt"/>
          <a:ea typeface="+mn-ea"/>
          <a:cs typeface="+mn-cs"/>
        </a:defRPr>
      </a:lvl2pPr>
      <a:lvl3pPr marL="1300460" algn="l" defTabSz="1300460" rtl="0" eaLnBrk="1" latinLnBrk="0" hangingPunct="1">
        <a:defRPr kumimoji="1" sz="2560" kern="1200">
          <a:solidFill>
            <a:schemeClr val="tx1"/>
          </a:solidFill>
          <a:latin typeface="+mn-lt"/>
          <a:ea typeface="+mn-ea"/>
          <a:cs typeface="+mn-cs"/>
        </a:defRPr>
      </a:lvl3pPr>
      <a:lvl4pPr marL="1950690" algn="l" defTabSz="1300460" rtl="0" eaLnBrk="1" latinLnBrk="0" hangingPunct="1">
        <a:defRPr kumimoji="1" sz="2560" kern="1200">
          <a:solidFill>
            <a:schemeClr val="tx1"/>
          </a:solidFill>
          <a:latin typeface="+mn-lt"/>
          <a:ea typeface="+mn-ea"/>
          <a:cs typeface="+mn-cs"/>
        </a:defRPr>
      </a:lvl4pPr>
      <a:lvl5pPr marL="2600919" algn="l" defTabSz="1300460" rtl="0" eaLnBrk="1" latinLnBrk="0" hangingPunct="1">
        <a:defRPr kumimoji="1" sz="2560" kern="1200">
          <a:solidFill>
            <a:schemeClr val="tx1"/>
          </a:solidFill>
          <a:latin typeface="+mn-lt"/>
          <a:ea typeface="+mn-ea"/>
          <a:cs typeface="+mn-cs"/>
        </a:defRPr>
      </a:lvl5pPr>
      <a:lvl6pPr marL="3251149" algn="l" defTabSz="1300460" rtl="0" eaLnBrk="1" latinLnBrk="0" hangingPunct="1">
        <a:defRPr kumimoji="1" sz="2560" kern="1200">
          <a:solidFill>
            <a:schemeClr val="tx1"/>
          </a:solidFill>
          <a:latin typeface="+mn-lt"/>
          <a:ea typeface="+mn-ea"/>
          <a:cs typeface="+mn-cs"/>
        </a:defRPr>
      </a:lvl6pPr>
      <a:lvl7pPr marL="3901379" algn="l" defTabSz="1300460" rtl="0" eaLnBrk="1" latinLnBrk="0" hangingPunct="1">
        <a:defRPr kumimoji="1" sz="2560" kern="1200">
          <a:solidFill>
            <a:schemeClr val="tx1"/>
          </a:solidFill>
          <a:latin typeface="+mn-lt"/>
          <a:ea typeface="+mn-ea"/>
          <a:cs typeface="+mn-cs"/>
        </a:defRPr>
      </a:lvl7pPr>
      <a:lvl8pPr marL="4551609" algn="l" defTabSz="1300460" rtl="0" eaLnBrk="1" latinLnBrk="0" hangingPunct="1">
        <a:defRPr kumimoji="1" sz="2560" kern="1200">
          <a:solidFill>
            <a:schemeClr val="tx1"/>
          </a:solidFill>
          <a:latin typeface="+mn-lt"/>
          <a:ea typeface="+mn-ea"/>
          <a:cs typeface="+mn-cs"/>
        </a:defRPr>
      </a:lvl8pPr>
      <a:lvl9pPr marL="5201839" algn="l" defTabSz="1300460" rtl="0" eaLnBrk="1" latinLnBrk="0" hangingPunct="1">
        <a:defRPr kumimoji="1"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wrap="square" lIns="182880" rIns="182880" anchor="ctr">
            <a:normAutofit/>
          </a:bodyPr>
          <a:lstStyle/>
          <a:p>
            <a:pPr algn="l"/>
            <a:r>
              <a:rPr lang="ja-JP" altLang="en-US" sz="2600" b="1" dirty="0">
                <a:solidFill>
                  <a:srgbClr val="FFFFFF"/>
                </a:solidFill>
                <a:latin typeface="Yu Gothic"/>
              </a:rPr>
              <a:t>ゲーム概要</a:t>
            </a:r>
            <a:r>
              <a:rPr lang="en-US" altLang="ja-JP" sz="2600" b="1" dirty="0">
                <a:solidFill>
                  <a:srgbClr val="FFFFFF"/>
                </a:solidFill>
                <a:latin typeface="Yu Gothic"/>
              </a:rPr>
              <a:t>V3</a:t>
            </a:r>
            <a:endParaRPr lang="ja-JP" altLang="en-US" sz="3600" b="1" dirty="0">
              <a:solidFill>
                <a:schemeClr val="bg1"/>
              </a:solidFill>
              <a:latin typeface="メイリオ" panose="020B0604030504040204" pitchFamily="50" charset="-128"/>
              <a:ea typeface="メイリオ" panose="020B0604030504040204" pitchFamily="50" charset="-128"/>
            </a:endParaRP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 name="テキスト ボックス 2">
            <a:extLst>
              <a:ext uri="{FF2B5EF4-FFF2-40B4-BE49-F238E27FC236}">
                <a16:creationId xmlns:a16="http://schemas.microsoft.com/office/drawing/2014/main" id="{D47749FE-12CE-A65E-71C4-957FC987A2C2}"/>
              </a:ext>
            </a:extLst>
          </p:cNvPr>
          <p:cNvSpPr txBox="1"/>
          <p:nvPr/>
        </p:nvSpPr>
        <p:spPr>
          <a:xfrm>
            <a:off x="165694" y="1194825"/>
            <a:ext cx="2290635" cy="954107"/>
          </a:xfrm>
          <a:prstGeom prst="rect">
            <a:avLst/>
          </a:prstGeom>
          <a:solidFill>
            <a:srgbClr val="002060"/>
          </a:solidFill>
        </p:spPr>
        <p:txBody>
          <a:bodyPr wrap="square" lIns="45720" rIns="45720" rtlCol="0" anchor="ctr">
            <a:spAutoFit/>
          </a:bodyPr>
          <a:lstStyle/>
          <a:p>
            <a:pPr algn="ctr"/>
            <a:r>
              <a:rPr sz="1600" b="1" dirty="0" err="1">
                <a:solidFill>
                  <a:srgbClr val="FFFFFF"/>
                </a:solidFill>
                <a:latin typeface="Yu Gothic"/>
              </a:rPr>
              <a:t>ゲームタイトル</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1C700FEB-3A8B-5BEF-954E-0EC63BF60CAE}"/>
              </a:ext>
            </a:extLst>
          </p:cNvPr>
          <p:cNvSpPr txBox="1"/>
          <p:nvPr/>
        </p:nvSpPr>
        <p:spPr>
          <a:xfrm>
            <a:off x="2605836" y="1182125"/>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en-US" altLang="ja-JP" sz="2000" b="0" dirty="0">
                <a:latin typeface="Yu Gothic"/>
              </a:rPr>
              <a:t>PAW</a:t>
            </a:r>
            <a:r>
              <a:rPr lang="ja-JP" altLang="en-US" sz="2000" b="0" dirty="0">
                <a:latin typeface="Yu Gothic"/>
              </a:rPr>
              <a:t>！</a:t>
            </a:r>
            <a:endParaRPr lang="en-US" altLang="ja-JP" sz="2000" b="0" dirty="0">
              <a:latin typeface="Yu Gothic"/>
            </a:endParaRPr>
          </a:p>
        </p:txBody>
      </p:sp>
      <p:sp>
        <p:nvSpPr>
          <p:cNvPr id="6" name="テキスト ボックス 5">
            <a:extLst>
              <a:ext uri="{FF2B5EF4-FFF2-40B4-BE49-F238E27FC236}">
                <a16:creationId xmlns:a16="http://schemas.microsoft.com/office/drawing/2014/main" id="{5527D54C-19AA-B8F5-2A89-D0A061324D7C}"/>
              </a:ext>
            </a:extLst>
          </p:cNvPr>
          <p:cNvSpPr txBox="1"/>
          <p:nvPr/>
        </p:nvSpPr>
        <p:spPr>
          <a:xfrm>
            <a:off x="165694" y="2232978"/>
            <a:ext cx="2290635" cy="954107"/>
          </a:xfrm>
          <a:prstGeom prst="rect">
            <a:avLst/>
          </a:prstGeom>
          <a:solidFill>
            <a:srgbClr val="002060"/>
          </a:solidFill>
        </p:spPr>
        <p:txBody>
          <a:bodyPr wrap="square" lIns="45720" rIns="45720" rtlCol="0" anchor="ctr">
            <a:spAutoFit/>
          </a:bodyPr>
          <a:lstStyle/>
          <a:p>
            <a:pPr algn="ctr"/>
            <a:r>
              <a:rPr sz="1600" b="1">
                <a:solidFill>
                  <a:srgbClr val="FFFFFF"/>
                </a:solidFill>
                <a:latin typeface="Yu Gothic"/>
              </a:rPr>
              <a:t>主人公</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6DC3D0D-B07D-47FA-5861-B20B6E5F179D}"/>
              </a:ext>
            </a:extLst>
          </p:cNvPr>
          <p:cNvSpPr txBox="1"/>
          <p:nvPr/>
        </p:nvSpPr>
        <p:spPr>
          <a:xfrm>
            <a:off x="2630987" y="2232978"/>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ja-JP" altLang="en-US" sz="2000" b="0" dirty="0">
                <a:latin typeface="Yu Gothic"/>
              </a:rPr>
              <a:t>猫</a:t>
            </a:r>
            <a:endParaRPr kumimoji="1" lang="en-US" altLang="ja-JP" sz="20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5E1B4D02-4CCF-9C29-88C8-E09C46F1247F}"/>
              </a:ext>
            </a:extLst>
          </p:cNvPr>
          <p:cNvSpPr txBox="1"/>
          <p:nvPr/>
        </p:nvSpPr>
        <p:spPr>
          <a:xfrm>
            <a:off x="165694" y="3271131"/>
            <a:ext cx="2290635" cy="954107"/>
          </a:xfrm>
          <a:prstGeom prst="rect">
            <a:avLst/>
          </a:prstGeom>
          <a:solidFill>
            <a:srgbClr val="002060"/>
          </a:solidFill>
        </p:spPr>
        <p:txBody>
          <a:bodyPr wrap="square" lIns="45720" rIns="45720" rtlCol="0" anchor="ctr">
            <a:spAutoFit/>
          </a:bodyPr>
          <a:lstStyle/>
          <a:p>
            <a:pPr algn="ctr"/>
            <a:r>
              <a:rPr sz="1600" b="1">
                <a:solidFill>
                  <a:srgbClr val="FFFFFF"/>
                </a:solidFill>
                <a:latin typeface="Yu Gothic"/>
              </a:rPr>
              <a:t>場所・世界</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74EBBCE-D030-31A0-25E8-629024707ED4}"/>
              </a:ext>
            </a:extLst>
          </p:cNvPr>
          <p:cNvSpPr txBox="1"/>
          <p:nvPr/>
        </p:nvSpPr>
        <p:spPr>
          <a:xfrm>
            <a:off x="2605836" y="3271131"/>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ja-JP" altLang="en-US" sz="2000" b="0" dirty="0">
                <a:latin typeface="Yu Gothic"/>
              </a:rPr>
              <a:t>レストラン</a:t>
            </a:r>
            <a:endParaRPr kumimoji="1" lang="en-US" altLang="ja-JP" sz="20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D76D0640-A37B-E247-F879-B199C8BBB738}"/>
              </a:ext>
            </a:extLst>
          </p:cNvPr>
          <p:cNvSpPr txBox="1"/>
          <p:nvPr/>
        </p:nvSpPr>
        <p:spPr>
          <a:xfrm>
            <a:off x="165694" y="4309284"/>
            <a:ext cx="2290635" cy="954107"/>
          </a:xfrm>
          <a:prstGeom prst="rect">
            <a:avLst/>
          </a:prstGeom>
          <a:solidFill>
            <a:srgbClr val="002060"/>
          </a:solidFill>
        </p:spPr>
        <p:txBody>
          <a:bodyPr wrap="square" lIns="45720" rIns="45720" rtlCol="0" anchor="ctr">
            <a:spAutoFit/>
          </a:bodyPr>
          <a:lstStyle/>
          <a:p>
            <a:pPr algn="ctr"/>
            <a:r>
              <a:rPr sz="1600" b="1">
                <a:solidFill>
                  <a:srgbClr val="FFFFFF"/>
                </a:solidFill>
                <a:latin typeface="Yu Gothic"/>
              </a:rPr>
              <a:t>主なアクション</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AB16DBE3-61EB-2341-C5D4-51E1B508BEA0}"/>
              </a:ext>
            </a:extLst>
          </p:cNvPr>
          <p:cNvSpPr txBox="1"/>
          <p:nvPr/>
        </p:nvSpPr>
        <p:spPr>
          <a:xfrm>
            <a:off x="2605836" y="4311281"/>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ja-JP" altLang="en-US" sz="2000" b="0" dirty="0">
                <a:latin typeface="Yu Gothic"/>
              </a:rPr>
              <a:t>移動、猫パンチ</a:t>
            </a:r>
            <a:r>
              <a:rPr lang="ja-JP" altLang="en-US" sz="2000" dirty="0">
                <a:latin typeface="Yu Gothic"/>
              </a:rPr>
              <a:t>、</a:t>
            </a:r>
            <a:r>
              <a:rPr lang="ja-JP" altLang="en-US" sz="2000" b="0" dirty="0">
                <a:latin typeface="Yu Gothic"/>
              </a:rPr>
              <a:t>回避</a:t>
            </a:r>
            <a:r>
              <a:rPr lang="ja-JP" altLang="en-US" sz="2000" dirty="0">
                <a:latin typeface="Yu Gothic"/>
              </a:rPr>
              <a:t>、</a:t>
            </a:r>
            <a:r>
              <a:rPr lang="ja-JP" altLang="en-US" sz="2000" b="0" dirty="0">
                <a:latin typeface="Yu Gothic"/>
              </a:rPr>
              <a:t>ジャンプ</a:t>
            </a:r>
            <a:endParaRPr kumimoji="1" lang="en-US" altLang="ja-JP" sz="2000"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43C062E1-1FBC-CF9E-D7D0-299D9075DF65}"/>
              </a:ext>
            </a:extLst>
          </p:cNvPr>
          <p:cNvSpPr txBox="1"/>
          <p:nvPr/>
        </p:nvSpPr>
        <p:spPr>
          <a:xfrm>
            <a:off x="165694" y="5347437"/>
            <a:ext cx="2290635" cy="954107"/>
          </a:xfrm>
          <a:prstGeom prst="rect">
            <a:avLst/>
          </a:prstGeom>
          <a:solidFill>
            <a:srgbClr val="002060"/>
          </a:solidFill>
        </p:spPr>
        <p:txBody>
          <a:bodyPr wrap="square" lIns="45720" rIns="45720" rtlCol="0" anchor="ctr">
            <a:spAutoFit/>
          </a:bodyPr>
          <a:lstStyle/>
          <a:p>
            <a:pPr algn="ctr"/>
            <a:r>
              <a:rPr sz="1600" b="1">
                <a:solidFill>
                  <a:srgbClr val="FFFFFF"/>
                </a:solidFill>
                <a:latin typeface="Yu Gothic"/>
              </a:rPr>
              <a:t>ゲームの目的</a:t>
            </a:r>
            <a:endParaRPr kumimoji="1" lang="en-US" altLang="ja-JP" sz="2800">
              <a:solidFill>
                <a:schemeClr val="bg1"/>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C4B1D26D-EE88-5A61-C1FA-0BB790D7C150}"/>
              </a:ext>
            </a:extLst>
          </p:cNvPr>
          <p:cNvSpPr txBox="1"/>
          <p:nvPr/>
        </p:nvSpPr>
        <p:spPr>
          <a:xfrm>
            <a:off x="2605836" y="5347436"/>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kumimoji="1" lang="ja-JP" altLang="en-US" sz="2000" dirty="0">
                <a:latin typeface="+mn-ea"/>
              </a:rPr>
              <a:t>・ねずみに操られた配膳ロボットの破壊を達成し、ねずみを撃退する</a:t>
            </a:r>
            <a:br>
              <a:rPr kumimoji="1" lang="en-US" altLang="ja-JP" sz="2000" dirty="0">
                <a:latin typeface="+mn-ea"/>
              </a:rPr>
            </a:br>
            <a:r>
              <a:rPr kumimoji="1" lang="ja-JP" altLang="en-US" sz="2000" dirty="0">
                <a:latin typeface="+mn-ea"/>
              </a:rPr>
              <a:t>・サブ目的：</a:t>
            </a:r>
            <a:r>
              <a:rPr lang="ja-JP" altLang="en-US" sz="2000" b="0" dirty="0">
                <a:latin typeface="Yu Gothic"/>
              </a:rPr>
              <a:t>経過時間・残り</a:t>
            </a:r>
            <a:r>
              <a:rPr lang="en-US" altLang="ja-JP" sz="2000" b="0" dirty="0">
                <a:latin typeface="Yu Gothic"/>
              </a:rPr>
              <a:t>HP</a:t>
            </a:r>
            <a:r>
              <a:rPr lang="ja-JP" altLang="en-US" sz="2000" b="0" dirty="0">
                <a:latin typeface="Yu Gothic"/>
              </a:rPr>
              <a:t>からなるランク</a:t>
            </a:r>
            <a:endParaRPr kumimoji="1" lang="en-US" altLang="ja-JP" sz="2000" dirty="0">
              <a:latin typeface="+mn-ea"/>
            </a:endParaRPr>
          </a:p>
        </p:txBody>
      </p:sp>
      <p:sp>
        <p:nvSpPr>
          <p:cNvPr id="17" name="テキスト ボックス 16">
            <a:extLst>
              <a:ext uri="{FF2B5EF4-FFF2-40B4-BE49-F238E27FC236}">
                <a16:creationId xmlns:a16="http://schemas.microsoft.com/office/drawing/2014/main" id="{E0D1937F-47C9-9E98-E038-F3A696BE53ED}"/>
              </a:ext>
            </a:extLst>
          </p:cNvPr>
          <p:cNvSpPr txBox="1"/>
          <p:nvPr/>
        </p:nvSpPr>
        <p:spPr>
          <a:xfrm>
            <a:off x="190845" y="6385590"/>
            <a:ext cx="2290635" cy="954000"/>
          </a:xfrm>
          <a:prstGeom prst="rect">
            <a:avLst/>
          </a:prstGeom>
          <a:solidFill>
            <a:srgbClr val="002060"/>
          </a:solidFill>
        </p:spPr>
        <p:txBody>
          <a:bodyPr wrap="square" lIns="45720" rIns="45720" rtlCol="0" anchor="ctr">
            <a:spAutoFit/>
          </a:bodyPr>
          <a:lstStyle/>
          <a:p>
            <a:pPr algn="ctr"/>
            <a:r>
              <a:rPr lang="ja-JP" altLang="en-US" sz="1600" b="1" dirty="0">
                <a:solidFill>
                  <a:srgbClr val="FFFFFF"/>
                </a:solidFill>
                <a:latin typeface="Yu Gothic"/>
              </a:rPr>
              <a:t>妨害要素</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EA360183-8BEA-9018-42C8-A4AE0523D94A}"/>
              </a:ext>
            </a:extLst>
          </p:cNvPr>
          <p:cNvSpPr txBox="1"/>
          <p:nvPr/>
        </p:nvSpPr>
        <p:spPr>
          <a:xfrm>
            <a:off x="2605836" y="6385483"/>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ja-JP" altLang="en-US" sz="2000" b="0" dirty="0">
                <a:latin typeface="Yu Gothic"/>
              </a:rPr>
              <a:t>ねずみからの攻撃（ねずみ自身の攻撃、食べ物を投げてくる、お皿を投げてくる、カトラリー投げてくる）</a:t>
            </a:r>
            <a:endParaRPr kumimoji="1" lang="en-US" altLang="ja-JP" sz="20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C6274AE5-110A-93BF-023A-D37A931E03A8}"/>
              </a:ext>
            </a:extLst>
          </p:cNvPr>
          <p:cNvSpPr txBox="1"/>
          <p:nvPr/>
        </p:nvSpPr>
        <p:spPr>
          <a:xfrm>
            <a:off x="190845" y="7423636"/>
            <a:ext cx="2290635" cy="954107"/>
          </a:xfrm>
          <a:prstGeom prst="rect">
            <a:avLst/>
          </a:prstGeom>
          <a:solidFill>
            <a:srgbClr val="002060"/>
          </a:solidFill>
        </p:spPr>
        <p:txBody>
          <a:bodyPr wrap="square" lIns="45720" rIns="45720" rtlCol="0" anchor="ctr">
            <a:spAutoFit/>
          </a:bodyPr>
          <a:lstStyle/>
          <a:p>
            <a:pPr algn="ctr"/>
            <a:r>
              <a:rPr sz="1600" b="1" dirty="0" err="1">
                <a:solidFill>
                  <a:srgbClr val="FFFFFF"/>
                </a:solidFill>
                <a:latin typeface="Yu Gothic"/>
              </a:rPr>
              <a:t>ゲームジャンル</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39389119-84FB-C9B1-5A8D-3C1EF720178C}"/>
              </a:ext>
            </a:extLst>
          </p:cNvPr>
          <p:cNvSpPr txBox="1"/>
          <p:nvPr/>
        </p:nvSpPr>
        <p:spPr>
          <a:xfrm>
            <a:off x="2630987" y="7423636"/>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kumimoji="1" lang="en-US" altLang="ja-JP" sz="2000" dirty="0">
                <a:latin typeface="+mn-ea"/>
              </a:rPr>
              <a:t>3D</a:t>
            </a:r>
            <a:r>
              <a:rPr kumimoji="1" lang="ja-JP" altLang="en-US" sz="2000" dirty="0">
                <a:latin typeface="+mn-ea"/>
              </a:rPr>
              <a:t>アクション</a:t>
            </a:r>
            <a:endParaRPr kumimoji="1" lang="en-US" altLang="ja-JP" sz="2000" dirty="0">
              <a:latin typeface="+mn-ea"/>
            </a:endParaRPr>
          </a:p>
        </p:txBody>
      </p:sp>
      <p:sp>
        <p:nvSpPr>
          <p:cNvPr id="21" name="テキスト ボックス 20">
            <a:extLst>
              <a:ext uri="{FF2B5EF4-FFF2-40B4-BE49-F238E27FC236}">
                <a16:creationId xmlns:a16="http://schemas.microsoft.com/office/drawing/2014/main" id="{97F6E648-BCBC-F4E7-CD6E-304F25AC3FA9}"/>
              </a:ext>
            </a:extLst>
          </p:cNvPr>
          <p:cNvSpPr txBox="1"/>
          <p:nvPr/>
        </p:nvSpPr>
        <p:spPr>
          <a:xfrm>
            <a:off x="215996" y="8461791"/>
            <a:ext cx="2290635" cy="954107"/>
          </a:xfrm>
          <a:prstGeom prst="rect">
            <a:avLst/>
          </a:prstGeom>
          <a:solidFill>
            <a:srgbClr val="002060"/>
          </a:solidFill>
        </p:spPr>
        <p:txBody>
          <a:bodyPr wrap="square" lIns="45720" rIns="45720" rtlCol="0" anchor="ctr">
            <a:spAutoFit/>
          </a:bodyPr>
          <a:lstStyle/>
          <a:p>
            <a:pPr algn="ctr"/>
            <a:r>
              <a:rPr sz="1600" b="1" dirty="0" err="1">
                <a:solidFill>
                  <a:srgbClr val="FFFFFF"/>
                </a:solidFill>
                <a:latin typeface="Yu Gothic"/>
              </a:rPr>
              <a:t>ゲームを一文で説明</a:t>
            </a: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01B2D134-9A4C-605D-5101-0C5A8006F89C}"/>
              </a:ext>
            </a:extLst>
          </p:cNvPr>
          <p:cNvSpPr txBox="1"/>
          <p:nvPr/>
        </p:nvSpPr>
        <p:spPr>
          <a:xfrm>
            <a:off x="2630987" y="8459791"/>
            <a:ext cx="10182968" cy="954107"/>
          </a:xfrm>
          <a:prstGeom prst="rect">
            <a:avLst/>
          </a:prstGeom>
          <a:solidFill>
            <a:srgbClr val="F2F7FC"/>
          </a:solidFill>
          <a:ln>
            <a:solidFill>
              <a:srgbClr val="AABED2"/>
            </a:solidFill>
          </a:ln>
        </p:spPr>
        <p:txBody>
          <a:bodyPr wrap="square" lIns="146304" rIns="146304" rtlCol="0" anchor="ctr">
            <a:normAutofit/>
          </a:bodyPr>
          <a:lstStyle/>
          <a:p>
            <a:pPr algn="l"/>
            <a:r>
              <a:rPr lang="ja-JP" altLang="en-US" sz="1300" b="0" dirty="0">
                <a:latin typeface="Yu Gothic"/>
              </a:rPr>
              <a:t>猫</a:t>
            </a:r>
            <a:r>
              <a:rPr sz="1300" b="0" dirty="0">
                <a:latin typeface="Yu Gothic"/>
              </a:rPr>
              <a:t>が</a:t>
            </a:r>
            <a:r>
              <a:rPr lang="ja-JP" altLang="en-US" sz="1300" b="0" dirty="0">
                <a:latin typeface="Yu Gothic"/>
              </a:rPr>
              <a:t>、レストラン</a:t>
            </a:r>
            <a:r>
              <a:rPr sz="1300" b="0" dirty="0">
                <a:latin typeface="Yu Gothic"/>
              </a:rPr>
              <a:t>で</a:t>
            </a:r>
            <a:r>
              <a:rPr lang="ja-JP" altLang="en-US" sz="1300" b="0" dirty="0">
                <a:latin typeface="Yu Gothic"/>
              </a:rPr>
              <a:t>、移動</a:t>
            </a:r>
            <a:r>
              <a:rPr lang="ja-JP" altLang="en-US" sz="1300" dirty="0">
                <a:latin typeface="Yu Gothic"/>
              </a:rPr>
              <a:t>、</a:t>
            </a:r>
            <a:r>
              <a:rPr lang="ja-JP" altLang="en-US" sz="1300" b="0" dirty="0">
                <a:latin typeface="Yu Gothic"/>
              </a:rPr>
              <a:t>猫パンチ、回避</a:t>
            </a:r>
            <a:r>
              <a:rPr lang="ja-JP" altLang="en-US" sz="1300" dirty="0">
                <a:latin typeface="Yu Gothic"/>
              </a:rPr>
              <a:t>、</a:t>
            </a:r>
            <a:r>
              <a:rPr lang="ja-JP" altLang="en-US" sz="1300" b="0" dirty="0">
                <a:latin typeface="Yu Gothic"/>
              </a:rPr>
              <a:t>ジャンプ</a:t>
            </a:r>
            <a:r>
              <a:rPr sz="1300" b="0" dirty="0" err="1">
                <a:latin typeface="Yu Gothic"/>
              </a:rPr>
              <a:t>を使い</a:t>
            </a:r>
            <a:r>
              <a:rPr lang="ja-JP" altLang="en-US" sz="1300" b="0" dirty="0">
                <a:latin typeface="Yu Gothic"/>
              </a:rPr>
              <a:t>、時間制限</a:t>
            </a:r>
            <a:r>
              <a:rPr lang="en-US" altLang="ja-JP" sz="1300" dirty="0">
                <a:latin typeface="Yu Gothic"/>
              </a:rPr>
              <a:t>/</a:t>
            </a:r>
            <a:r>
              <a:rPr lang="ja-JP" altLang="en-US" sz="1300" dirty="0">
                <a:latin typeface="Yu Gothic"/>
              </a:rPr>
              <a:t>ねずみからの攻撃</a:t>
            </a:r>
            <a:r>
              <a:rPr sz="1300" b="0" dirty="0" err="1">
                <a:latin typeface="Yu Gothic"/>
              </a:rPr>
              <a:t>を乗り越えて</a:t>
            </a:r>
            <a:r>
              <a:rPr lang="ja-JP" altLang="en-US" sz="1300" b="0" dirty="0">
                <a:latin typeface="Yu Gothic"/>
              </a:rPr>
              <a:t>ねずみに操られた配膳ロボットの破壊を達成し、ねずみの撃退</a:t>
            </a:r>
            <a:r>
              <a:rPr sz="1300" b="0" dirty="0">
                <a:latin typeface="Yu Gothic"/>
              </a:rPr>
              <a:t>を目指す</a:t>
            </a:r>
            <a:r>
              <a:rPr lang="en-US" altLang="ja-JP" sz="1300" b="0" dirty="0">
                <a:latin typeface="Yu Gothic"/>
              </a:rPr>
              <a:t>3D</a:t>
            </a:r>
            <a:r>
              <a:rPr lang="ja-JP" altLang="en-US" sz="1300" b="0" dirty="0">
                <a:latin typeface="Yu Gothic"/>
              </a:rPr>
              <a:t>アクション</a:t>
            </a:r>
            <a:r>
              <a:rPr sz="1300" b="0" dirty="0" err="1">
                <a:latin typeface="Yu Gothic"/>
              </a:rPr>
              <a:t>ゲーム</a:t>
            </a:r>
            <a:r>
              <a:rPr sz="1300" b="0" dirty="0">
                <a:latin typeface="Yu Gothic"/>
              </a:rPr>
              <a:t>。</a:t>
            </a:r>
            <a:endParaRPr kumimoji="1" lang="en-US" altLang="ja-JP"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2052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wrap="square" lIns="182880" rIns="182880" anchor="ctr">
            <a:normAutofit/>
          </a:bodyPr>
          <a:lstStyle/>
          <a:p>
            <a:pPr algn="l"/>
            <a:r>
              <a:rPr sz="2600" b="1" dirty="0">
                <a:solidFill>
                  <a:srgbClr val="FFFFFF"/>
                </a:solidFill>
                <a:latin typeface="Yu Gothic"/>
              </a:rPr>
              <a:t>② </a:t>
            </a:r>
            <a:r>
              <a:rPr sz="2600" b="1" dirty="0" err="1">
                <a:solidFill>
                  <a:srgbClr val="FFFFFF"/>
                </a:solidFill>
                <a:latin typeface="Yu Gothic"/>
              </a:rPr>
              <a:t>ゲーム画面と「駆け引き</a:t>
            </a:r>
            <a:r>
              <a:rPr lang="ja-JP" altLang="en-US" sz="2600" b="1" dirty="0">
                <a:solidFill>
                  <a:srgbClr val="FFFFFF"/>
                </a:solidFill>
                <a:latin typeface="+mn-ea"/>
                <a:ea typeface="+mn-ea"/>
              </a:rPr>
              <a:t>（面白さ）</a:t>
            </a:r>
            <a:r>
              <a:rPr sz="2600" b="1" dirty="0">
                <a:solidFill>
                  <a:srgbClr val="FFFFFF"/>
                </a:solidFill>
                <a:latin typeface="Yu Gothic"/>
              </a:rPr>
              <a:t>」</a:t>
            </a:r>
            <a:r>
              <a:rPr sz="2600" b="1" dirty="0" err="1">
                <a:solidFill>
                  <a:srgbClr val="FFFFFF"/>
                </a:solidFill>
                <a:latin typeface="Yu Gothic"/>
              </a:rPr>
              <a:t>を考えよう</a:t>
            </a:r>
            <a:endParaRPr sz="2600" b="1" dirty="0">
              <a:solidFill>
                <a:srgbClr val="FFFFFF"/>
              </a:solidFill>
              <a:latin typeface="Yu Gothic"/>
            </a:endParaRP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2" name="正方形/長方形 1">
            <a:extLst>
              <a:ext uri="{FF2B5EF4-FFF2-40B4-BE49-F238E27FC236}">
                <a16:creationId xmlns:a16="http://schemas.microsoft.com/office/drawing/2014/main" id="{A4D8CD27-4148-4714-FFA9-31EF424B6B07}"/>
              </a:ext>
            </a:extLst>
          </p:cNvPr>
          <p:cNvSpPr/>
          <p:nvPr/>
        </p:nvSpPr>
        <p:spPr bwMode="auto">
          <a:xfrm>
            <a:off x="1177664" y="2464610"/>
            <a:ext cx="10649472" cy="5751095"/>
          </a:xfrm>
          <a:prstGeom prst="rect">
            <a:avLst/>
          </a:prstGeom>
          <a:solidFill>
            <a:srgbClr val="FFFFFF"/>
          </a:solidFill>
          <a:ln w="38100">
            <a:solidFill>
              <a:srgbClr val="8296AA"/>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 name="テキスト ボックス 2">
            <a:extLst>
              <a:ext uri="{FF2B5EF4-FFF2-40B4-BE49-F238E27FC236}">
                <a16:creationId xmlns:a16="http://schemas.microsoft.com/office/drawing/2014/main" id="{ACD3247E-F948-979A-1F50-0C213D84EE3B}"/>
              </a:ext>
            </a:extLst>
          </p:cNvPr>
          <p:cNvSpPr txBox="1"/>
          <p:nvPr/>
        </p:nvSpPr>
        <p:spPr>
          <a:xfrm>
            <a:off x="215996" y="1231881"/>
            <a:ext cx="2290635" cy="954107"/>
          </a:xfrm>
          <a:prstGeom prst="rect">
            <a:avLst/>
          </a:prstGeom>
          <a:solidFill>
            <a:srgbClr val="002060"/>
          </a:solidFill>
        </p:spPr>
        <p:txBody>
          <a:bodyPr wrap="square" lIns="45720" rIns="45720" rtlCol="0" anchor="ctr">
            <a:spAutoFit/>
          </a:bodyPr>
          <a:lstStyle/>
          <a:p>
            <a:pPr algn="ctr"/>
            <a:r>
              <a:rPr sz="2800" b="1" dirty="0" err="1">
                <a:solidFill>
                  <a:srgbClr val="FFFFFF"/>
                </a:solidFill>
                <a:latin typeface="Yu Gothic"/>
              </a:rPr>
              <a:t>ゲーム概要</a:t>
            </a:r>
            <a:endParaRPr lang="en-US" altLang="ja-JP" sz="2800" b="1" dirty="0">
              <a:solidFill>
                <a:srgbClr val="FFFFFF"/>
              </a:solidFill>
              <a:latin typeface="Yu Gothic"/>
            </a:endParaRPr>
          </a:p>
          <a:p>
            <a:pPr algn="ctr"/>
            <a:endParaRPr kumimoji="1" lang="en-US" altLang="ja-JP" sz="2800"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340A38F-7A0A-C3CF-D8B5-3D4165FAD496}"/>
              </a:ext>
            </a:extLst>
          </p:cNvPr>
          <p:cNvSpPr txBox="1"/>
          <p:nvPr/>
        </p:nvSpPr>
        <p:spPr>
          <a:xfrm>
            <a:off x="215996" y="8580769"/>
            <a:ext cx="2290635" cy="954107"/>
          </a:xfrm>
          <a:prstGeom prst="rect">
            <a:avLst/>
          </a:prstGeom>
          <a:solidFill>
            <a:srgbClr val="002060"/>
          </a:solidFill>
        </p:spPr>
        <p:txBody>
          <a:bodyPr wrap="square" lIns="45720" rIns="45720" rtlCol="0" anchor="ctr">
            <a:spAutoFit/>
          </a:bodyPr>
          <a:lstStyle/>
          <a:p>
            <a:pPr algn="ctr"/>
            <a:r>
              <a:rPr sz="2800" b="1" dirty="0" err="1">
                <a:solidFill>
                  <a:srgbClr val="FFFFFF"/>
                </a:solidFill>
                <a:latin typeface="+mn-ea"/>
              </a:rPr>
              <a:t>駆け引き</a:t>
            </a:r>
            <a:endParaRPr lang="en-US" altLang="ja-JP" sz="2800" b="1" dirty="0">
              <a:solidFill>
                <a:srgbClr val="FFFFFF"/>
              </a:solidFill>
              <a:latin typeface="+mn-ea"/>
            </a:endParaRPr>
          </a:p>
          <a:p>
            <a:pPr algn="ctr"/>
            <a:r>
              <a:rPr lang="ja-JP" altLang="en-US" sz="2800" b="1" dirty="0">
                <a:solidFill>
                  <a:srgbClr val="FFFFFF"/>
                </a:solidFill>
                <a:latin typeface="+mn-ea"/>
              </a:rPr>
              <a:t>（面白さ）</a:t>
            </a:r>
            <a:endParaRPr lang="en-US" sz="2800" b="1" dirty="0">
              <a:solidFill>
                <a:srgbClr val="000000"/>
              </a:solidFill>
              <a:latin typeface="+mn-ea"/>
            </a:endParaRPr>
          </a:p>
        </p:txBody>
      </p:sp>
      <p:sp>
        <p:nvSpPr>
          <p:cNvPr id="9" name="テキスト ボックス 8">
            <a:extLst>
              <a:ext uri="{FF2B5EF4-FFF2-40B4-BE49-F238E27FC236}">
                <a16:creationId xmlns:a16="http://schemas.microsoft.com/office/drawing/2014/main" id="{B2902B89-EC04-85F1-1AD1-8E592C4C8E0D}"/>
              </a:ext>
            </a:extLst>
          </p:cNvPr>
          <p:cNvSpPr txBox="1"/>
          <p:nvPr/>
        </p:nvSpPr>
        <p:spPr>
          <a:xfrm>
            <a:off x="2681290" y="8626935"/>
            <a:ext cx="10182968" cy="861774"/>
          </a:xfrm>
          <a:prstGeom prst="rect">
            <a:avLst/>
          </a:prstGeom>
          <a:solidFill>
            <a:schemeClr val="bg1"/>
          </a:solidFill>
          <a:ln>
            <a:solidFill>
              <a:schemeClr val="tx1"/>
            </a:solidFill>
          </a:ln>
        </p:spPr>
        <p:txBody>
          <a:bodyPr wrap="square" rtlCol="0" anchor="ctr">
            <a:normAutofit/>
          </a:bodyPr>
          <a:lstStyle/>
          <a:p>
            <a:pPr algn="l"/>
            <a:r>
              <a:rPr lang="ja-JP" altLang="en-US" sz="2000" dirty="0">
                <a:latin typeface="Yu Gothic"/>
              </a:rPr>
              <a:t>高いランクを目指すため、限られた攻撃時間で積極的に攻撃しようとするが、詰めすぎるとダメージを食らってしまう</a:t>
            </a:r>
            <a:endParaRPr lang="en-US" altLang="ja-JP" sz="2000" b="0" dirty="0">
              <a:latin typeface="Yu Gothic"/>
            </a:endParaRPr>
          </a:p>
        </p:txBody>
      </p:sp>
      <p:sp>
        <p:nvSpPr>
          <p:cNvPr id="12" name="テキスト ボックス 11">
            <a:extLst>
              <a:ext uri="{FF2B5EF4-FFF2-40B4-BE49-F238E27FC236}">
                <a16:creationId xmlns:a16="http://schemas.microsoft.com/office/drawing/2014/main" id="{61A8A455-9924-468F-9CDA-434A85311BFA}"/>
              </a:ext>
            </a:extLst>
          </p:cNvPr>
          <p:cNvSpPr txBox="1"/>
          <p:nvPr/>
        </p:nvSpPr>
        <p:spPr>
          <a:xfrm>
            <a:off x="2681290" y="1295294"/>
            <a:ext cx="10182968" cy="830997"/>
          </a:xfrm>
          <a:prstGeom prst="rect">
            <a:avLst/>
          </a:prstGeom>
          <a:solidFill>
            <a:schemeClr val="bg1"/>
          </a:solidFill>
          <a:ln>
            <a:solidFill>
              <a:schemeClr val="tx1"/>
            </a:solidFill>
          </a:ln>
        </p:spPr>
        <p:txBody>
          <a:bodyPr wrap="square" rtlCol="0" anchor="ctr">
            <a:normAutofit/>
          </a:bodyPr>
          <a:lstStyle/>
          <a:p>
            <a:r>
              <a:rPr lang="ja-JP" altLang="en-US" sz="1400" b="0" dirty="0">
                <a:latin typeface="Yu Gothic"/>
              </a:rPr>
              <a:t>猫が、レストランで、移動</a:t>
            </a:r>
            <a:r>
              <a:rPr lang="ja-JP" altLang="en-US" sz="1400" dirty="0">
                <a:latin typeface="Yu Gothic"/>
              </a:rPr>
              <a:t>、</a:t>
            </a:r>
            <a:r>
              <a:rPr lang="ja-JP" altLang="en-US" sz="1400" b="0" dirty="0">
                <a:latin typeface="Yu Gothic"/>
              </a:rPr>
              <a:t>猫パンチ、回避</a:t>
            </a:r>
            <a:r>
              <a:rPr lang="ja-JP" altLang="en-US" sz="1400" dirty="0">
                <a:latin typeface="Yu Gothic"/>
              </a:rPr>
              <a:t>、</a:t>
            </a:r>
            <a:r>
              <a:rPr lang="ja-JP" altLang="en-US" sz="1400" b="0" dirty="0">
                <a:latin typeface="Yu Gothic"/>
              </a:rPr>
              <a:t>ジャンプを使い、時間制限</a:t>
            </a:r>
            <a:r>
              <a:rPr lang="en-US" altLang="ja-JP" sz="1400" dirty="0">
                <a:latin typeface="Yu Gothic"/>
              </a:rPr>
              <a:t>/</a:t>
            </a:r>
            <a:r>
              <a:rPr lang="ja-JP" altLang="en-US" sz="1400" dirty="0">
                <a:latin typeface="Yu Gothic"/>
              </a:rPr>
              <a:t>ねずみからの攻撃</a:t>
            </a:r>
            <a:r>
              <a:rPr lang="ja-JP" altLang="en-US" sz="1400" b="0" dirty="0">
                <a:latin typeface="Yu Gothic"/>
              </a:rPr>
              <a:t>を乗り越えてねずみに操られた配膳ロボットの破壊を達成し、ねずみの撃退を目指す</a:t>
            </a:r>
            <a:r>
              <a:rPr lang="en-US" altLang="ja-JP" sz="1400" b="0" dirty="0">
                <a:latin typeface="Yu Gothic"/>
              </a:rPr>
              <a:t>3D</a:t>
            </a:r>
            <a:r>
              <a:rPr lang="ja-JP" altLang="en-US" sz="1400" b="0" dirty="0">
                <a:latin typeface="Yu Gothic"/>
              </a:rPr>
              <a:t>アクションゲーム。</a:t>
            </a:r>
            <a:endParaRPr kumimoji="1" lang="ja-JP" altLang="en-US" sz="2800" dirty="0">
              <a:latin typeface="メイリオ" panose="020B0604030504040204" pitchFamily="50" charset="-128"/>
              <a:ea typeface="メイリオ" panose="020B0604030504040204" pitchFamily="50" charset="-128"/>
            </a:endParaRPr>
          </a:p>
        </p:txBody>
      </p:sp>
      <p:sp>
        <p:nvSpPr>
          <p:cNvPr id="32" name="TextBox 31"/>
          <p:cNvSpPr txBox="1"/>
          <p:nvPr/>
        </p:nvSpPr>
        <p:spPr>
          <a:xfrm>
            <a:off x="2834640" y="4800600"/>
            <a:ext cx="7498079" cy="640080"/>
          </a:xfrm>
          <a:prstGeom prst="rect">
            <a:avLst/>
          </a:prstGeom>
          <a:noFill/>
        </p:spPr>
        <p:txBody>
          <a:bodyPr wrap="square" anchor="ctr">
            <a:spAutoFit/>
          </a:bodyPr>
          <a:lstStyle/>
          <a:p>
            <a:pPr algn="ctr"/>
            <a:r>
              <a:rPr sz="1800" b="0">
                <a:solidFill>
                  <a:srgbClr val="969BA0"/>
                </a:solidFill>
                <a:latin typeface="Yu Gothic"/>
              </a:rPr>
              <a:t>ゲーム画面を描く／画像を貼る
主人公・敵・目的地・UIは、矢印や短い言葉で説明しよう</a:t>
            </a:r>
          </a:p>
        </p:txBody>
      </p:sp>
      <p:pic>
        <p:nvPicPr>
          <p:cNvPr id="14" name="図 13">
            <a:extLst>
              <a:ext uri="{FF2B5EF4-FFF2-40B4-BE49-F238E27FC236}">
                <a16:creationId xmlns:a16="http://schemas.microsoft.com/office/drawing/2014/main" id="{FBB57825-7509-4CCF-B405-A7114A92D5F6}"/>
              </a:ext>
            </a:extLst>
          </p:cNvPr>
          <p:cNvPicPr>
            <a:picLocks noChangeAspect="1"/>
          </p:cNvPicPr>
          <p:nvPr/>
        </p:nvPicPr>
        <p:blipFill>
          <a:blip r:embed="rId3"/>
          <a:stretch>
            <a:fillRect/>
          </a:stretch>
        </p:blipFill>
        <p:spPr>
          <a:xfrm>
            <a:off x="1394166" y="2491356"/>
            <a:ext cx="10247788" cy="5724350"/>
          </a:xfrm>
          <a:prstGeom prst="rect">
            <a:avLst/>
          </a:prstGeom>
        </p:spPr>
      </p:pic>
    </p:spTree>
    <p:extLst>
      <p:ext uri="{BB962C8B-B14F-4D97-AF65-F5344CB8AC3E}">
        <p14:creationId xmlns:p14="http://schemas.microsoft.com/office/powerpoint/2010/main" val="372703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wrap="square" lIns="182880" rIns="182880" anchor="ctr">
            <a:normAutofit/>
          </a:bodyPr>
          <a:lstStyle/>
          <a:p>
            <a:pPr algn="l"/>
            <a:r>
              <a:rPr sz="2600" b="1" dirty="0">
                <a:solidFill>
                  <a:srgbClr val="FFFFFF"/>
                </a:solidFill>
                <a:latin typeface="Yu Gothic"/>
              </a:rPr>
              <a:t>③ </a:t>
            </a:r>
            <a:r>
              <a:rPr sz="2600" b="1" dirty="0" err="1">
                <a:solidFill>
                  <a:srgbClr val="FFFFFF"/>
                </a:solidFill>
                <a:latin typeface="Yu Gothic"/>
              </a:rPr>
              <a:t>参考ゲームから「面白さ」を見つけよう</a:t>
            </a:r>
            <a:endParaRPr sz="2600" b="1" dirty="0">
              <a:solidFill>
                <a:srgbClr val="FFFFFF"/>
              </a:solidFill>
              <a:latin typeface="Yu Gothic"/>
            </a:endParaRP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2" name="正方形/長方形 1">
            <a:extLst>
              <a:ext uri="{FF2B5EF4-FFF2-40B4-BE49-F238E27FC236}">
                <a16:creationId xmlns:a16="http://schemas.microsoft.com/office/drawing/2014/main" id="{A4D8CD27-4148-4714-FFA9-31EF424B6B07}"/>
              </a:ext>
            </a:extLst>
          </p:cNvPr>
          <p:cNvSpPr/>
          <p:nvPr/>
        </p:nvSpPr>
        <p:spPr bwMode="auto">
          <a:xfrm>
            <a:off x="165695" y="1193631"/>
            <a:ext cx="12648260" cy="2108369"/>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numCol="1" rtlCol="0" anchor="t" anchorCtr="0" compatLnSpc="1">
            <a:prstTxWarp prst="textNoShape">
              <a:avLst/>
            </a:prstTxWarp>
            <a:normAutofit/>
          </a:bodyPr>
          <a:lstStyle/>
          <a:p>
            <a:pPr algn="l" defTabSz="914400" fontAlgn="base">
              <a:spcBef>
                <a:spcPct val="0"/>
              </a:spcBef>
              <a:spcAft>
                <a:spcPct val="0"/>
              </a:spcAft>
            </a:pPr>
            <a:r>
              <a:rPr sz="2000" b="1" dirty="0">
                <a:solidFill>
                  <a:srgbClr val="202830"/>
                </a:solidFill>
                <a:latin typeface="Yu Gothic"/>
              </a:rPr>
              <a:t>＜</a:t>
            </a:r>
            <a:r>
              <a:rPr sz="2000" b="1" dirty="0" err="1">
                <a:solidFill>
                  <a:srgbClr val="202830"/>
                </a:solidFill>
                <a:latin typeface="Yu Gothic"/>
              </a:rPr>
              <a:t>参考にしたゲームの情報</a:t>
            </a:r>
            <a:r>
              <a:rPr sz="2000" b="1" dirty="0">
                <a:solidFill>
                  <a:srgbClr val="202830"/>
                </a:solidFill>
                <a:latin typeface="Yu Gothic"/>
              </a:rPr>
              <a:t>＞
</a:t>
            </a:r>
            <a:r>
              <a:rPr sz="2000" b="0" dirty="0">
                <a:solidFill>
                  <a:srgbClr val="202830"/>
                </a:solidFill>
                <a:latin typeface="Yu Gothic"/>
              </a:rPr>
              <a:t>・</a:t>
            </a:r>
            <a:r>
              <a:rPr sz="2000" b="0" dirty="0" err="1">
                <a:solidFill>
                  <a:srgbClr val="202830"/>
                </a:solidFill>
                <a:latin typeface="Yu Gothic"/>
              </a:rPr>
              <a:t>タイトル：</a:t>
            </a:r>
            <a:r>
              <a:rPr lang="en-US" altLang="ja-JP" sz="2000" b="0" dirty="0" err="1">
                <a:solidFill>
                  <a:srgbClr val="202830"/>
                </a:solidFill>
                <a:latin typeface="Yu Gothic"/>
              </a:rPr>
              <a:t>Split</a:t>
            </a:r>
            <a:r>
              <a:rPr lang="en-US" altLang="ja-JP" sz="2000" b="0" dirty="0">
                <a:solidFill>
                  <a:srgbClr val="202830"/>
                </a:solidFill>
                <a:latin typeface="Yu Gothic"/>
              </a:rPr>
              <a:t> Fiction(</a:t>
            </a:r>
            <a:r>
              <a:rPr lang="ja-JP" altLang="en-US" sz="2000" b="0" dirty="0">
                <a:solidFill>
                  <a:srgbClr val="202830"/>
                </a:solidFill>
                <a:latin typeface="Yu Gothic"/>
              </a:rPr>
              <a:t>ゲーム内のミニゲームを参考</a:t>
            </a:r>
            <a:r>
              <a:rPr lang="en-US" altLang="ja-JP" sz="2000" b="0" dirty="0">
                <a:solidFill>
                  <a:srgbClr val="202830"/>
                </a:solidFill>
                <a:latin typeface="Yu Gothic"/>
              </a:rPr>
              <a:t>)</a:t>
            </a:r>
            <a:r>
              <a:rPr sz="2000" b="0" dirty="0">
                <a:solidFill>
                  <a:srgbClr val="202830"/>
                </a:solidFill>
                <a:latin typeface="Yu Gothic"/>
              </a:rPr>
              <a:t>
・</a:t>
            </a:r>
            <a:r>
              <a:rPr sz="2000" b="0" dirty="0" err="1">
                <a:solidFill>
                  <a:srgbClr val="202830"/>
                </a:solidFill>
                <a:latin typeface="Yu Gothic"/>
              </a:rPr>
              <a:t>販売／開発会社</a:t>
            </a:r>
            <a:r>
              <a:rPr sz="2000" b="0" dirty="0">
                <a:solidFill>
                  <a:srgbClr val="202830"/>
                </a:solidFill>
                <a:latin typeface="Yu Gothic"/>
              </a:rPr>
              <a:t>：</a:t>
            </a:r>
            <a:r>
              <a:rPr lang="ja-JP" altLang="en-US" sz="2000" b="0" dirty="0">
                <a:solidFill>
                  <a:srgbClr val="202830"/>
                </a:solidFill>
                <a:latin typeface="Yu Gothic"/>
              </a:rPr>
              <a:t>エレクトロニック・アーツ</a:t>
            </a:r>
            <a:r>
              <a:rPr lang="en-US" altLang="ja-JP" sz="2000" dirty="0">
                <a:solidFill>
                  <a:srgbClr val="202830"/>
                </a:solidFill>
                <a:latin typeface="Yu Gothic"/>
              </a:rPr>
              <a:t>/</a:t>
            </a:r>
            <a:r>
              <a:rPr lang="en-US" altLang="ja-JP" sz="2000" dirty="0" err="1">
                <a:solidFill>
                  <a:srgbClr val="202830"/>
                </a:solidFill>
                <a:latin typeface="Yu Gothic"/>
              </a:rPr>
              <a:t>Hazelight</a:t>
            </a:r>
            <a:r>
              <a:rPr lang="ja-JP" altLang="en-US" sz="2000" dirty="0">
                <a:solidFill>
                  <a:srgbClr val="202830"/>
                </a:solidFill>
                <a:latin typeface="Yu Gothic"/>
              </a:rPr>
              <a:t> </a:t>
            </a:r>
            <a:r>
              <a:rPr lang="en-US" altLang="ja-JP" sz="2000" dirty="0">
                <a:solidFill>
                  <a:srgbClr val="202830"/>
                </a:solidFill>
                <a:latin typeface="Yu Gothic"/>
              </a:rPr>
              <a:t>Studios</a:t>
            </a:r>
            <a:r>
              <a:rPr sz="2000" b="0" dirty="0">
                <a:solidFill>
                  <a:srgbClr val="202830"/>
                </a:solidFill>
                <a:latin typeface="Yu Gothic"/>
              </a:rPr>
              <a:t>
・</a:t>
            </a:r>
            <a:r>
              <a:rPr sz="2000" b="0" dirty="0" err="1">
                <a:solidFill>
                  <a:srgbClr val="202830"/>
                </a:solidFill>
                <a:latin typeface="Yu Gothic"/>
              </a:rPr>
              <a:t>ジャンル</a:t>
            </a:r>
            <a:r>
              <a:rPr sz="2000" b="0" dirty="0">
                <a:solidFill>
                  <a:srgbClr val="202830"/>
                </a:solidFill>
                <a:latin typeface="Yu Gothic"/>
              </a:rPr>
              <a:t>：</a:t>
            </a:r>
            <a:r>
              <a:rPr lang="ja-JP" altLang="en-US" sz="2000" dirty="0">
                <a:solidFill>
                  <a:srgbClr val="202830"/>
                </a:solidFill>
                <a:latin typeface="Yu Gothic"/>
              </a:rPr>
              <a:t>アクションアドベンチャー</a:t>
            </a:r>
            <a:endParaRPr lang="en-US" altLang="ja-JP" sz="2000" b="0" dirty="0">
              <a:solidFill>
                <a:srgbClr val="202830"/>
              </a:solidFill>
              <a:latin typeface="Yu Gothic"/>
            </a:endParaRPr>
          </a:p>
        </p:txBody>
      </p:sp>
      <p:sp>
        <p:nvSpPr>
          <p:cNvPr id="9" name="正方形/長方形 8">
            <a:extLst>
              <a:ext uri="{FF2B5EF4-FFF2-40B4-BE49-F238E27FC236}">
                <a16:creationId xmlns:a16="http://schemas.microsoft.com/office/drawing/2014/main" id="{0790A1DC-5B7B-4723-A1B1-5CF8EFB66746}"/>
              </a:ext>
            </a:extLst>
          </p:cNvPr>
          <p:cNvSpPr/>
          <p:nvPr/>
        </p:nvSpPr>
        <p:spPr bwMode="auto">
          <a:xfrm>
            <a:off x="165695" y="3401747"/>
            <a:ext cx="12648260" cy="6100255"/>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numCol="1" rtlCol="0" anchor="t" anchorCtr="0" compatLnSpc="1">
            <a:prstTxWarp prst="textNoShape">
              <a:avLst/>
            </a:prstTxWarp>
            <a:normAutofit/>
          </a:bodyPr>
          <a:lstStyle/>
          <a:p>
            <a:pPr algn="l" defTabSz="914400" fontAlgn="base">
              <a:spcBef>
                <a:spcPct val="0"/>
              </a:spcBef>
              <a:spcAft>
                <a:spcPct val="0"/>
              </a:spcAft>
            </a:pPr>
            <a:r>
              <a:rPr sz="2000" b="1" dirty="0">
                <a:solidFill>
                  <a:srgbClr val="202830"/>
                </a:solidFill>
                <a:latin typeface="Yu Gothic"/>
              </a:rPr>
              <a:t>＜</a:t>
            </a:r>
            <a:r>
              <a:rPr sz="2000" b="1" dirty="0" err="1">
                <a:solidFill>
                  <a:srgbClr val="202830"/>
                </a:solidFill>
                <a:latin typeface="Yu Gothic"/>
              </a:rPr>
              <a:t>どこが面白い</a:t>
            </a:r>
            <a:r>
              <a:rPr lang="ja-JP" altLang="en-US" sz="2000" b="1" dirty="0">
                <a:solidFill>
                  <a:srgbClr val="202830"/>
                </a:solidFill>
                <a:latin typeface="Yu Gothic"/>
              </a:rPr>
              <a:t>と思った</a:t>
            </a:r>
            <a:r>
              <a:rPr sz="2000" b="1" dirty="0">
                <a:solidFill>
                  <a:srgbClr val="202830"/>
                </a:solidFill>
                <a:latin typeface="Yu Gothic"/>
              </a:rPr>
              <a:t>？ </a:t>
            </a:r>
            <a:r>
              <a:rPr sz="2000" b="1" dirty="0" err="1">
                <a:solidFill>
                  <a:srgbClr val="202830"/>
                </a:solidFill>
                <a:latin typeface="Yu Gothic"/>
              </a:rPr>
              <a:t>具体的に書こう</a:t>
            </a:r>
            <a:r>
              <a:rPr sz="2000" b="1" dirty="0">
                <a:solidFill>
                  <a:srgbClr val="202830"/>
                </a:solidFill>
                <a:latin typeface="Yu Gothic"/>
              </a:rPr>
              <a:t>＞</a:t>
            </a:r>
            <a:endParaRPr lang="en-US" altLang="ja-JP" sz="2000" b="1" dirty="0">
              <a:solidFill>
                <a:srgbClr val="202830"/>
              </a:solidFill>
              <a:latin typeface="Yu Gothic"/>
            </a:endParaRPr>
          </a:p>
          <a:p>
            <a:pPr defTabSz="914400" fontAlgn="base">
              <a:spcBef>
                <a:spcPct val="0"/>
              </a:spcBef>
              <a:spcAft>
                <a:spcPct val="0"/>
              </a:spcAft>
            </a:pPr>
            <a:r>
              <a:rPr lang="ja-JP" altLang="en-US" sz="2000" b="0" dirty="0">
                <a:solidFill>
                  <a:srgbClr val="202830"/>
                </a:solidFill>
                <a:latin typeface="Yu Gothic"/>
              </a:rPr>
              <a:t>①ミニゲームが豊富でステージによってはファンシーな世界観（操作キャラクターが豚や歯になるなど）で遊んでいて見た目が凄く印象に残った</a:t>
            </a:r>
            <a:endParaRPr lang="en-US" altLang="ja-JP" sz="2000" b="0" dirty="0">
              <a:solidFill>
                <a:srgbClr val="202830"/>
              </a:solidFill>
              <a:latin typeface="Yu Gothic"/>
            </a:endParaRPr>
          </a:p>
          <a:p>
            <a:pPr defTabSz="914400" fontAlgn="base">
              <a:spcBef>
                <a:spcPct val="0"/>
              </a:spcBef>
              <a:spcAft>
                <a:spcPct val="0"/>
              </a:spcAft>
            </a:pPr>
            <a:endParaRPr lang="en-US" altLang="ja-JP" sz="2000" b="0" dirty="0">
              <a:solidFill>
                <a:srgbClr val="202830"/>
              </a:solidFill>
              <a:latin typeface="Yu Gothic"/>
            </a:endParaRPr>
          </a:p>
          <a:p>
            <a:pPr defTabSz="914400" fontAlgn="base">
              <a:spcBef>
                <a:spcPct val="0"/>
              </a:spcBef>
              <a:spcAft>
                <a:spcPct val="0"/>
              </a:spcAft>
            </a:pPr>
            <a:r>
              <a:rPr lang="ja-JP" altLang="en-US" sz="2000" b="0" dirty="0">
                <a:solidFill>
                  <a:srgbClr val="202830"/>
                </a:solidFill>
                <a:latin typeface="Yu Gothic"/>
              </a:rPr>
              <a:t>➁ステージによってできる操作やギミック、操作キャラクターの見た目が変化し、やり進めていても飽きないかつ操作が変化してもシンプルなため迷うことがあまりなかった
</a:t>
            </a:r>
            <a:endParaRPr lang="en-US" altLang="ja-JP" sz="2000" b="0" dirty="0">
              <a:solidFill>
                <a:srgbClr val="202830"/>
              </a:solidFill>
              <a:latin typeface="Yu Gothic"/>
            </a:endParaRPr>
          </a:p>
          <a:p>
            <a:pPr defTabSz="914400" fontAlgn="base">
              <a:spcBef>
                <a:spcPct val="0"/>
              </a:spcBef>
              <a:spcAft>
                <a:spcPct val="0"/>
              </a:spcAft>
            </a:pPr>
            <a:r>
              <a:rPr lang="ja-JP" altLang="en-US" sz="2000" dirty="0">
                <a:solidFill>
                  <a:srgbClr val="202830"/>
                </a:solidFill>
                <a:latin typeface="Yu Gothic"/>
              </a:rPr>
              <a:t>③普通の</a:t>
            </a:r>
            <a:r>
              <a:rPr lang="en-US" altLang="ja-JP" sz="2000" dirty="0">
                <a:solidFill>
                  <a:srgbClr val="202830"/>
                </a:solidFill>
                <a:latin typeface="Yu Gothic"/>
              </a:rPr>
              <a:t>3</a:t>
            </a:r>
            <a:r>
              <a:rPr lang="ja-JP" altLang="en-US" sz="2000" dirty="0">
                <a:solidFill>
                  <a:srgbClr val="202830"/>
                </a:solidFill>
                <a:latin typeface="Yu Gothic"/>
              </a:rPr>
              <a:t>Ｄアクションだけでなく、</a:t>
            </a:r>
            <a:r>
              <a:rPr lang="ja-JP" altLang="en-US" sz="2000" b="0" dirty="0">
                <a:solidFill>
                  <a:srgbClr val="202830"/>
                </a:solidFill>
                <a:latin typeface="Yu Gothic"/>
              </a:rPr>
              <a:t>横スクロールや見下ろし型など様々な視点があった点</a:t>
            </a:r>
            <a:endParaRPr lang="en-US" altLang="ja-JP" sz="2000" b="0" dirty="0">
              <a:solidFill>
                <a:srgbClr val="202830"/>
              </a:solidFill>
              <a:latin typeface="Yu Gothic"/>
            </a:endParaRPr>
          </a:p>
          <a:p>
            <a:pPr algn="l" defTabSz="914400" fontAlgn="base">
              <a:spcBef>
                <a:spcPct val="0"/>
              </a:spcBef>
              <a:spcAft>
                <a:spcPct val="0"/>
              </a:spcAft>
            </a:pPr>
            <a:r>
              <a:rPr sz="2000" b="0" dirty="0">
                <a:solidFill>
                  <a:srgbClr val="202830"/>
                </a:solidFill>
                <a:latin typeface="Yu Gothic"/>
              </a:rPr>
              <a:t>
</a:t>
            </a:r>
            <a:r>
              <a:rPr sz="2000" b="1" dirty="0">
                <a:solidFill>
                  <a:srgbClr val="202830"/>
                </a:solidFill>
                <a:latin typeface="Yu Gothic"/>
              </a:rPr>
              <a:t>＜</a:t>
            </a:r>
            <a:r>
              <a:rPr sz="2000" b="1" dirty="0" err="1">
                <a:solidFill>
                  <a:srgbClr val="202830"/>
                </a:solidFill>
                <a:latin typeface="Yu Gothic"/>
              </a:rPr>
              <a:t>自分のゲームで再現するには</a:t>
            </a:r>
            <a:r>
              <a:rPr sz="2000" b="1" dirty="0">
                <a:solidFill>
                  <a:srgbClr val="202830"/>
                </a:solidFill>
                <a:latin typeface="Yu Gothic"/>
              </a:rPr>
              <a:t>？ </a:t>
            </a:r>
            <a:r>
              <a:rPr sz="2000" b="1" dirty="0" err="1">
                <a:solidFill>
                  <a:srgbClr val="202830"/>
                </a:solidFill>
                <a:latin typeface="Yu Gothic"/>
              </a:rPr>
              <a:t>優先順に書こう</a:t>
            </a:r>
            <a:r>
              <a:rPr sz="2000" b="1" dirty="0">
                <a:solidFill>
                  <a:srgbClr val="202830"/>
                </a:solidFill>
                <a:latin typeface="Yu Gothic"/>
              </a:rPr>
              <a:t>＞</a:t>
            </a:r>
            <a:r>
              <a:rPr lang="ja-JP" altLang="en-US" sz="2000" b="1" dirty="0">
                <a:solidFill>
                  <a:srgbClr val="202830"/>
                </a:solidFill>
                <a:latin typeface="Yu Gothic"/>
              </a:rPr>
              <a:t>
</a:t>
            </a:r>
            <a:r>
              <a:rPr sz="2000" b="0" dirty="0">
                <a:solidFill>
                  <a:srgbClr val="202830"/>
                </a:solidFill>
                <a:latin typeface="Yu Gothic"/>
              </a:rPr>
              <a:t>① </a:t>
            </a:r>
            <a:r>
              <a:rPr lang="ja-JP" altLang="en-US" sz="2000" b="0" dirty="0">
                <a:solidFill>
                  <a:srgbClr val="202830"/>
                </a:solidFill>
                <a:latin typeface="Yu Gothic"/>
              </a:rPr>
              <a:t>ファンシーな世界観の見た目で遊んでいる方の記憶に残りやすく
</a:t>
            </a:r>
            <a:endParaRPr lang="en-US" altLang="ja-JP" sz="2000" b="0" dirty="0">
              <a:solidFill>
                <a:srgbClr val="202830"/>
              </a:solidFill>
              <a:latin typeface="Yu Gothic"/>
            </a:endParaRPr>
          </a:p>
          <a:p>
            <a:pPr algn="l" defTabSz="914400" fontAlgn="base">
              <a:spcBef>
                <a:spcPct val="0"/>
              </a:spcBef>
              <a:spcAft>
                <a:spcPct val="0"/>
              </a:spcAft>
            </a:pPr>
            <a:r>
              <a:rPr sz="2000" b="0" dirty="0">
                <a:solidFill>
                  <a:srgbClr val="202830"/>
                </a:solidFill>
                <a:latin typeface="Yu Gothic"/>
              </a:rPr>
              <a:t>② </a:t>
            </a:r>
            <a:r>
              <a:rPr lang="ja-JP" altLang="en-US" sz="2000" b="0" dirty="0">
                <a:solidFill>
                  <a:srgbClr val="202830"/>
                </a:solidFill>
                <a:latin typeface="Yu Gothic"/>
              </a:rPr>
              <a:t>一度に行う操作をシンプルにし、敵の動きや自分自身の攻撃に集中できるようなバトル</a:t>
            </a:r>
            <a:endParaRPr lang="en-US" altLang="ja-JP" sz="2000" b="0" dirty="0">
              <a:solidFill>
                <a:srgbClr val="202830"/>
              </a:solidFill>
              <a:latin typeface="Yu Gothic"/>
            </a:endParaRPr>
          </a:p>
          <a:p>
            <a:pPr algn="l" defTabSz="914400" fontAlgn="base">
              <a:spcBef>
                <a:spcPct val="0"/>
              </a:spcBef>
              <a:spcAft>
                <a:spcPct val="0"/>
              </a:spcAft>
            </a:pPr>
            <a:endParaRPr lang="en-US" altLang="ja-JP" sz="2000" dirty="0">
              <a:solidFill>
                <a:srgbClr val="202830"/>
              </a:solidFill>
              <a:latin typeface="Yu Gothic"/>
            </a:endParaRPr>
          </a:p>
          <a:p>
            <a:pPr algn="l" defTabSz="914400" fontAlgn="base">
              <a:spcBef>
                <a:spcPct val="0"/>
              </a:spcBef>
              <a:spcAft>
                <a:spcPct val="0"/>
              </a:spcAft>
            </a:pPr>
            <a:r>
              <a:rPr lang="ja-JP" altLang="en-US" sz="2000" b="0" dirty="0">
                <a:solidFill>
                  <a:srgbClr val="202830"/>
                </a:solidFill>
                <a:latin typeface="Yu Gothic"/>
              </a:rPr>
              <a:t>③ イベントシーンによる遊んでいる方のゲームへの引き込み</a:t>
            </a:r>
            <a:r>
              <a:rPr sz="2000" b="0" dirty="0">
                <a:solidFill>
                  <a:srgbClr val="202830"/>
                </a:solidFill>
                <a:latin typeface="Yu Gothic"/>
              </a:rPr>
              <a:t>
</a:t>
            </a:r>
            <a:endParaRPr lang="ja-JP" altLang="en-US" sz="2000" b="0" dirty="0">
              <a:solidFill>
                <a:srgbClr val="202830"/>
              </a:solidFill>
              <a:latin typeface="Yu Gothic"/>
            </a:endParaRPr>
          </a:p>
        </p:txBody>
      </p:sp>
      <p:pic>
        <p:nvPicPr>
          <p:cNvPr id="6" name="図 5">
            <a:extLst>
              <a:ext uri="{FF2B5EF4-FFF2-40B4-BE49-F238E27FC236}">
                <a16:creationId xmlns:a16="http://schemas.microsoft.com/office/drawing/2014/main" id="{1E1E6DA1-33AE-440F-A1E6-A9E085B0CAA6}"/>
              </a:ext>
            </a:extLst>
          </p:cNvPr>
          <p:cNvPicPr>
            <a:picLocks noChangeAspect="1"/>
          </p:cNvPicPr>
          <p:nvPr/>
        </p:nvPicPr>
        <p:blipFill rotWithShape="1">
          <a:blip r:embed="rId3"/>
          <a:srcRect t="11483" b="22963"/>
          <a:stretch/>
        </p:blipFill>
        <p:spPr>
          <a:xfrm>
            <a:off x="9639292" y="1268188"/>
            <a:ext cx="2631417" cy="1959253"/>
          </a:xfrm>
          <a:prstGeom prst="rect">
            <a:avLst/>
          </a:prstGeom>
        </p:spPr>
      </p:pic>
    </p:spTree>
    <p:extLst>
      <p:ext uri="{BB962C8B-B14F-4D97-AF65-F5344CB8AC3E}">
        <p14:creationId xmlns:p14="http://schemas.microsoft.com/office/powerpoint/2010/main" val="3984739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タイトル 1">
            <a:extLst>
              <a:ext uri="{FF2B5EF4-FFF2-40B4-BE49-F238E27FC236}">
                <a16:creationId xmlns:a16="http://schemas.microsoft.com/office/drawing/2014/main" id="{5EA0190C-6B18-460B-8E7D-D4FE63597C15}"/>
              </a:ext>
            </a:extLst>
          </p:cNvPr>
          <p:cNvSpPr>
            <a:spLocks noGrp="1"/>
          </p:cNvSpPr>
          <p:nvPr>
            <p:ph type="title"/>
          </p:nvPr>
        </p:nvSpPr>
        <p:spPr>
          <a:xfrm>
            <a:off x="165695" y="251597"/>
            <a:ext cx="12648261" cy="701660"/>
          </a:xfrm>
          <a:solidFill>
            <a:srgbClr val="002060"/>
          </a:solidFill>
          <a:ln w="28575">
            <a:noFill/>
          </a:ln>
        </p:spPr>
        <p:txBody>
          <a:bodyPr wrap="square" lIns="182880" rIns="182880" anchor="ctr">
            <a:normAutofit/>
          </a:bodyPr>
          <a:lstStyle/>
          <a:p>
            <a:pPr algn="l"/>
            <a:r>
              <a:rPr sz="2600" b="1" dirty="0">
                <a:solidFill>
                  <a:srgbClr val="FFFFFF"/>
                </a:solidFill>
                <a:latin typeface="Yu Gothic"/>
              </a:rPr>
              <a:t>④ </a:t>
            </a:r>
            <a:r>
              <a:rPr sz="2600" b="1" dirty="0" err="1">
                <a:solidFill>
                  <a:srgbClr val="FFFFFF"/>
                </a:solidFill>
                <a:latin typeface="Yu Gothic"/>
              </a:rPr>
              <a:t>自分の目標を決めよう（氏名</a:t>
            </a:r>
            <a:r>
              <a:rPr sz="2600" b="1" dirty="0">
                <a:solidFill>
                  <a:srgbClr val="FFFFFF"/>
                </a:solidFill>
                <a:latin typeface="Yu Gothic"/>
              </a:rPr>
              <a:t>：</a:t>
            </a:r>
            <a:r>
              <a:rPr lang="ja-JP" altLang="en-US" sz="2600" b="1" dirty="0">
                <a:solidFill>
                  <a:srgbClr val="FFFFFF"/>
                </a:solidFill>
                <a:latin typeface="Yu Gothic"/>
              </a:rPr>
              <a:t>加藤幹萊</a:t>
            </a:r>
            <a:r>
              <a:rPr sz="2600" b="1" dirty="0">
                <a:solidFill>
                  <a:srgbClr val="FFFFFF"/>
                </a:solidFill>
                <a:latin typeface="Yu Gothic"/>
              </a:rPr>
              <a:t>　　　　　　）</a:t>
            </a:r>
          </a:p>
        </p:txBody>
      </p:sp>
      <p:sp>
        <p:nvSpPr>
          <p:cNvPr id="5" name="円/楕円 4"/>
          <p:cNvSpPr/>
          <p:nvPr/>
        </p:nvSpPr>
        <p:spPr bwMode="auto">
          <a:xfrm>
            <a:off x="12332043" y="518984"/>
            <a:ext cx="799718" cy="799718"/>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0" name="円/楕円 29"/>
          <p:cNvSpPr/>
          <p:nvPr/>
        </p:nvSpPr>
        <p:spPr bwMode="auto">
          <a:xfrm>
            <a:off x="11886731" y="695776"/>
            <a:ext cx="235604" cy="235604"/>
          </a:xfrm>
          <a:prstGeom prst="ellipse">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8" name="フローチャート: 端子 7"/>
          <p:cNvSpPr/>
          <p:nvPr/>
        </p:nvSpPr>
        <p:spPr bwMode="auto">
          <a:xfrm rot="18469270">
            <a:off x="11831602" y="-10107"/>
            <a:ext cx="1376043" cy="256021"/>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31" name="フローチャート: 端子 30"/>
          <p:cNvSpPr/>
          <p:nvPr/>
        </p:nvSpPr>
        <p:spPr bwMode="auto">
          <a:xfrm rot="18469270">
            <a:off x="11045329" y="647402"/>
            <a:ext cx="840692" cy="267022"/>
          </a:xfrm>
          <a:prstGeom prst="flowChartTerminator">
            <a:avLst/>
          </a:prstGeom>
          <a:solidFill>
            <a:schemeClr val="bg1"/>
          </a:solidFill>
          <a:ln>
            <a:no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2" name="正方形/長方形 1">
            <a:extLst>
              <a:ext uri="{FF2B5EF4-FFF2-40B4-BE49-F238E27FC236}">
                <a16:creationId xmlns:a16="http://schemas.microsoft.com/office/drawing/2014/main" id="{A4D8CD27-4148-4714-FFA9-31EF424B6B07}"/>
              </a:ext>
            </a:extLst>
          </p:cNvPr>
          <p:cNvSpPr/>
          <p:nvPr/>
        </p:nvSpPr>
        <p:spPr bwMode="auto">
          <a:xfrm>
            <a:off x="165695" y="1193631"/>
            <a:ext cx="12648260" cy="3937169"/>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numCol="1" rtlCol="0" anchor="t" anchorCtr="0" compatLnSpc="1">
            <a:prstTxWarp prst="textNoShape">
              <a:avLst/>
            </a:prstTxWarp>
            <a:normAutofit/>
          </a:bodyPr>
          <a:lstStyle/>
          <a:p>
            <a:pPr algn="l" defTabSz="914400" fontAlgn="base">
              <a:spcBef>
                <a:spcPct val="0"/>
              </a:spcBef>
              <a:spcAft>
                <a:spcPct val="0"/>
              </a:spcAft>
            </a:pPr>
            <a:r>
              <a:rPr sz="2000" b="1" dirty="0">
                <a:solidFill>
                  <a:srgbClr val="202830"/>
                </a:solidFill>
                <a:latin typeface="Yu Gothic"/>
              </a:rPr>
              <a:t>＜</a:t>
            </a:r>
            <a:r>
              <a:rPr sz="2000" b="1" dirty="0" err="1">
                <a:solidFill>
                  <a:srgbClr val="202830"/>
                </a:solidFill>
                <a:latin typeface="Yu Gothic"/>
              </a:rPr>
              <a:t>この作品で特に大切にしたいこと</a:t>
            </a:r>
            <a:r>
              <a:rPr sz="2000" b="1" dirty="0">
                <a:solidFill>
                  <a:srgbClr val="202830"/>
                </a:solidFill>
                <a:latin typeface="Yu Gothic"/>
              </a:rPr>
              <a:t>＞
</a:t>
            </a:r>
            <a:r>
              <a:rPr sz="2000" i="1" dirty="0" err="1">
                <a:solidFill>
                  <a:srgbClr val="202830"/>
                </a:solidFill>
                <a:latin typeface="Yu Gothic"/>
              </a:rPr>
              <a:t>例：操作していて気持ちよい動き／初めてでも迷わない画面／敵の動きの面白さ</a:t>
            </a:r>
            <a:r>
              <a:rPr sz="2000" b="0" dirty="0">
                <a:solidFill>
                  <a:srgbClr val="202830"/>
                </a:solidFill>
                <a:latin typeface="Yu Gothic"/>
              </a:rPr>
              <a:t>
① </a:t>
            </a:r>
            <a:r>
              <a:rPr lang="ja-JP" altLang="en-US" sz="2000" b="0" dirty="0">
                <a:solidFill>
                  <a:srgbClr val="202830"/>
                </a:solidFill>
                <a:latin typeface="Yu Gothic"/>
              </a:rPr>
              <a:t>操作していて気持ちの良い動き</a:t>
            </a:r>
            <a:r>
              <a:rPr sz="2000" b="0" dirty="0">
                <a:solidFill>
                  <a:srgbClr val="202830"/>
                </a:solidFill>
                <a:latin typeface="Yu Gothic"/>
              </a:rPr>
              <a:t>
</a:t>
            </a:r>
            <a:endParaRPr lang="en-US" altLang="ja-JP" sz="2000" b="0" dirty="0">
              <a:solidFill>
                <a:srgbClr val="202830"/>
              </a:solidFill>
              <a:latin typeface="Yu Gothic"/>
            </a:endParaRPr>
          </a:p>
          <a:p>
            <a:pPr algn="l" defTabSz="914400" fontAlgn="base">
              <a:spcBef>
                <a:spcPct val="0"/>
              </a:spcBef>
              <a:spcAft>
                <a:spcPct val="0"/>
              </a:spcAft>
            </a:pPr>
            <a:r>
              <a:rPr sz="2000" b="0" dirty="0">
                <a:solidFill>
                  <a:srgbClr val="202830"/>
                </a:solidFill>
                <a:latin typeface="Yu Gothic"/>
              </a:rPr>
              <a:t>② </a:t>
            </a:r>
            <a:r>
              <a:rPr lang="ja-JP" altLang="en-US" sz="2000" b="0" dirty="0">
                <a:solidFill>
                  <a:srgbClr val="202830"/>
                </a:solidFill>
                <a:latin typeface="Yu Gothic"/>
              </a:rPr>
              <a:t>人の興味がわくようなかわいい見た目</a:t>
            </a:r>
            <a:r>
              <a:rPr sz="2000" b="0" dirty="0">
                <a:solidFill>
                  <a:srgbClr val="202830"/>
                </a:solidFill>
                <a:latin typeface="Yu Gothic"/>
              </a:rPr>
              <a:t>
</a:t>
            </a:r>
            <a:endParaRPr lang="en-US" altLang="ja-JP" sz="2000" dirty="0">
              <a:solidFill>
                <a:srgbClr val="202830"/>
              </a:solidFill>
              <a:latin typeface="Yu Gothic"/>
            </a:endParaRPr>
          </a:p>
          <a:p>
            <a:pPr algn="l" defTabSz="914400" fontAlgn="base">
              <a:spcBef>
                <a:spcPct val="0"/>
              </a:spcBef>
              <a:spcAft>
                <a:spcPct val="0"/>
              </a:spcAft>
            </a:pPr>
            <a:r>
              <a:rPr sz="2000" b="0" dirty="0">
                <a:solidFill>
                  <a:srgbClr val="202830"/>
                </a:solidFill>
                <a:latin typeface="Yu Gothic"/>
              </a:rPr>
              <a:t>③</a:t>
            </a:r>
            <a:r>
              <a:rPr lang="ja-JP" altLang="en-US" sz="2000">
                <a:solidFill>
                  <a:srgbClr val="202830"/>
                </a:solidFill>
                <a:latin typeface="Yu Gothic"/>
              </a:rPr>
              <a:t> 楽しさ</a:t>
            </a:r>
            <a:r>
              <a:rPr lang="ja-JP" altLang="en-US" sz="2000" dirty="0">
                <a:solidFill>
                  <a:srgbClr val="202830"/>
                </a:solidFill>
                <a:latin typeface="Yu Gothic"/>
              </a:rPr>
              <a:t>を高めるイベントシーン</a:t>
            </a:r>
            <a:endParaRPr kumimoji="1" lang="en-US" altLang="ja-JP" sz="20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
        <p:nvSpPr>
          <p:cNvPr id="13" name="正方形/長方形 12">
            <a:extLst>
              <a:ext uri="{FF2B5EF4-FFF2-40B4-BE49-F238E27FC236}">
                <a16:creationId xmlns:a16="http://schemas.microsoft.com/office/drawing/2014/main" id="{01CF18E6-C5B9-42CD-91DB-E0E6B15B3355}"/>
              </a:ext>
            </a:extLst>
          </p:cNvPr>
          <p:cNvSpPr/>
          <p:nvPr/>
        </p:nvSpPr>
        <p:spPr bwMode="auto">
          <a:xfrm>
            <a:off x="165695" y="5371174"/>
            <a:ext cx="12648260" cy="3937169"/>
          </a:xfrm>
          <a:prstGeom prst="rect">
            <a:avLst/>
          </a:prstGeom>
          <a:solidFill>
            <a:schemeClr val="bg1"/>
          </a:solidFill>
          <a:ln w="38100">
            <a:solidFill>
              <a:srgbClr val="000000"/>
            </a:solidFill>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square" numCol="1" rtlCol="0" anchor="t" anchorCtr="0" compatLnSpc="1">
            <a:prstTxWarp prst="textNoShape">
              <a:avLst/>
            </a:prstTxWarp>
            <a:normAutofit/>
          </a:bodyPr>
          <a:lstStyle/>
          <a:p>
            <a:pPr defTabSz="914400" fontAlgn="base">
              <a:spcBef>
                <a:spcPct val="0"/>
              </a:spcBef>
              <a:spcAft>
                <a:spcPct val="0"/>
              </a:spcAft>
            </a:pPr>
            <a:r>
              <a:rPr sz="2000" b="1" dirty="0">
                <a:solidFill>
                  <a:srgbClr val="202830"/>
                </a:solidFill>
                <a:latin typeface="Yu Gothic"/>
              </a:rPr>
              <a:t>＜</a:t>
            </a:r>
            <a:r>
              <a:rPr sz="2000" b="1" dirty="0" err="1">
                <a:solidFill>
                  <a:srgbClr val="202830"/>
                </a:solidFill>
                <a:latin typeface="Yu Gothic"/>
              </a:rPr>
              <a:t>今回、新しく挑戦する技術</a:t>
            </a:r>
            <a:r>
              <a:rPr sz="2000" b="1" dirty="0">
                <a:solidFill>
                  <a:srgbClr val="202830"/>
                </a:solidFill>
                <a:latin typeface="Yu Gothic"/>
              </a:rPr>
              <a:t>＞
</a:t>
            </a:r>
            <a:r>
              <a:rPr sz="2000" i="1" dirty="0" err="1">
                <a:solidFill>
                  <a:srgbClr val="202830"/>
                </a:solidFill>
                <a:latin typeface="Yu Gothic"/>
              </a:rPr>
              <a:t>例：敵AI／エフェクト／UIアニメーション</a:t>
            </a:r>
            <a:r>
              <a:rPr lang="en-US" altLang="ja-JP" sz="2000" i="1" dirty="0">
                <a:solidFill>
                  <a:srgbClr val="202830"/>
                </a:solidFill>
                <a:latin typeface="Yu Gothic"/>
              </a:rPr>
              <a:t>/</a:t>
            </a:r>
            <a:r>
              <a:rPr lang="ja-JP" altLang="en-US" sz="2000" i="1" dirty="0">
                <a:solidFill>
                  <a:srgbClr val="202830"/>
                </a:solidFill>
                <a:latin typeface="Yu Gothic"/>
              </a:rPr>
              <a:t>ゲーム固有の特殊アクション（壁ダッシュやコンボ攻撃等）</a:t>
            </a:r>
            <a:r>
              <a:rPr sz="2000" b="0" dirty="0">
                <a:solidFill>
                  <a:srgbClr val="202830"/>
                </a:solidFill>
                <a:latin typeface="Yu Gothic"/>
              </a:rPr>
              <a:t>
①</a:t>
            </a:r>
            <a:r>
              <a:rPr lang="ja-JP" altLang="en-US" sz="2000" b="0" dirty="0">
                <a:solidFill>
                  <a:srgbClr val="202830"/>
                </a:solidFill>
                <a:latin typeface="Yu Gothic"/>
              </a:rPr>
              <a:t>攻撃補正</a:t>
            </a:r>
            <a:r>
              <a:rPr sz="2000" b="0" dirty="0">
                <a:solidFill>
                  <a:srgbClr val="202830"/>
                </a:solidFill>
                <a:latin typeface="Yu Gothic"/>
              </a:rPr>
              <a:t>
　</a:t>
            </a:r>
            <a:r>
              <a:rPr sz="2000" b="0" dirty="0" err="1">
                <a:solidFill>
                  <a:srgbClr val="202830"/>
                </a:solidFill>
                <a:latin typeface="Yu Gothic"/>
              </a:rPr>
              <a:t>できたと判断する条件</a:t>
            </a:r>
            <a:r>
              <a:rPr sz="2000" b="0" dirty="0">
                <a:solidFill>
                  <a:srgbClr val="202830"/>
                </a:solidFill>
                <a:latin typeface="Yu Gothic"/>
              </a:rPr>
              <a:t>：</a:t>
            </a:r>
            <a:r>
              <a:rPr lang="ja-JP" altLang="en-US" sz="2000" b="0" dirty="0">
                <a:solidFill>
                  <a:srgbClr val="202830"/>
                </a:solidFill>
                <a:latin typeface="Yu Gothic"/>
              </a:rPr>
              <a:t>違和感がなく、攻撃しやすい操作</a:t>
            </a:r>
            <a:endParaRPr lang="en-US" altLang="ja-JP" sz="2000" b="0" dirty="0">
              <a:solidFill>
                <a:srgbClr val="202830"/>
              </a:solidFill>
              <a:latin typeface="Yu Gothic"/>
            </a:endParaRPr>
          </a:p>
          <a:p>
            <a:pPr defTabSz="914400" fontAlgn="base">
              <a:spcBef>
                <a:spcPct val="0"/>
              </a:spcBef>
              <a:spcAft>
                <a:spcPct val="0"/>
              </a:spcAft>
            </a:pPr>
            <a:endParaRPr lang="en-US" altLang="ja-JP" sz="2000" dirty="0">
              <a:solidFill>
                <a:srgbClr val="202830"/>
              </a:solidFill>
              <a:latin typeface="Yu Gothic"/>
            </a:endParaRPr>
          </a:p>
          <a:p>
            <a:pPr defTabSz="914400" fontAlgn="base">
              <a:spcBef>
                <a:spcPct val="0"/>
              </a:spcBef>
              <a:spcAft>
                <a:spcPct val="0"/>
              </a:spcAft>
            </a:pPr>
            <a:r>
              <a:rPr sz="2000" b="0" dirty="0">
                <a:solidFill>
                  <a:srgbClr val="202830"/>
                </a:solidFill>
                <a:latin typeface="Yu Gothic"/>
              </a:rPr>
              <a:t>②</a:t>
            </a:r>
            <a:r>
              <a:rPr lang="ja-JP" altLang="en-US" sz="2000" dirty="0">
                <a:solidFill>
                  <a:srgbClr val="202830"/>
                </a:solidFill>
                <a:latin typeface="Yu Gothic"/>
              </a:rPr>
              <a:t>イベントシーン</a:t>
            </a:r>
            <a:r>
              <a:rPr lang="ja-JP" altLang="en-US" sz="2000" b="0" dirty="0">
                <a:solidFill>
                  <a:srgbClr val="202830"/>
                </a:solidFill>
                <a:latin typeface="Yu Gothic"/>
              </a:rPr>
              <a:t>
</a:t>
            </a:r>
            <a:r>
              <a:rPr sz="2000" b="0" dirty="0">
                <a:solidFill>
                  <a:srgbClr val="202830"/>
                </a:solidFill>
                <a:latin typeface="Yu Gothic"/>
              </a:rPr>
              <a:t>　</a:t>
            </a:r>
            <a:r>
              <a:rPr sz="2000" b="0" dirty="0" err="1">
                <a:solidFill>
                  <a:srgbClr val="202830"/>
                </a:solidFill>
                <a:latin typeface="Yu Gothic"/>
              </a:rPr>
              <a:t>できたと判断する条件</a:t>
            </a:r>
            <a:r>
              <a:rPr sz="2000" b="0" dirty="0">
                <a:solidFill>
                  <a:srgbClr val="202830"/>
                </a:solidFill>
                <a:latin typeface="Yu Gothic"/>
              </a:rPr>
              <a:t>：</a:t>
            </a:r>
            <a:r>
              <a:rPr lang="ja-JP" altLang="en-US" sz="2000" b="0" dirty="0">
                <a:solidFill>
                  <a:srgbClr val="202830"/>
                </a:solidFill>
                <a:latin typeface="Yu Gothic"/>
              </a:rPr>
              <a:t>滑らかなカメラワークで、退屈しないイベント画面</a:t>
            </a:r>
            <a:endParaRPr lang="en-US" altLang="ja-JP" sz="2000" b="0" dirty="0">
              <a:solidFill>
                <a:srgbClr val="202830"/>
              </a:solidFill>
              <a:latin typeface="Yu Gothic"/>
            </a:endParaRPr>
          </a:p>
          <a:p>
            <a:pPr algn="l" defTabSz="914400" fontAlgn="base">
              <a:spcBef>
                <a:spcPct val="0"/>
              </a:spcBef>
              <a:spcAft>
                <a:spcPct val="0"/>
              </a:spcAft>
            </a:pPr>
            <a:endParaRPr kumimoji="1" lang="en-US" altLang="ja-JP" sz="2000" dirty="0">
              <a:solidFill>
                <a:srgbClr val="202830"/>
              </a:solidFill>
              <a:latin typeface="Yu Gothic"/>
              <a:ea typeface="HGP創英角ｺﾞｼｯｸUB" panose="020B0900000000000000" pitchFamily="50" charset="-128"/>
              <a:cs typeface="メイリオ" pitchFamily="50" charset="-128"/>
            </a:endParaRPr>
          </a:p>
          <a:p>
            <a:pPr defTabSz="914400" fontAlgn="base">
              <a:spcBef>
                <a:spcPct val="0"/>
              </a:spcBef>
              <a:spcAft>
                <a:spcPct val="0"/>
              </a:spcAft>
            </a:pPr>
            <a:r>
              <a:rPr lang="ja-JP" altLang="en-US" sz="2000" dirty="0">
                <a:solidFill>
                  <a:srgbClr val="202830"/>
                </a:solidFill>
                <a:latin typeface="Yu Gothic"/>
              </a:rPr>
              <a:t>③パラメータ編集
　できたと判断する条件：ゲーム起動中にリアルタイムでパラメータを編集できるようにし、</a:t>
            </a:r>
            <a:endParaRPr lang="en-US" altLang="ja-JP" sz="2000" dirty="0">
              <a:solidFill>
                <a:srgbClr val="202830"/>
              </a:solidFill>
              <a:latin typeface="Yu Gothic"/>
            </a:endParaRPr>
          </a:p>
          <a:p>
            <a:pPr defTabSz="914400" fontAlgn="base">
              <a:spcBef>
                <a:spcPct val="0"/>
              </a:spcBef>
              <a:spcAft>
                <a:spcPct val="0"/>
              </a:spcAft>
            </a:pPr>
            <a:r>
              <a:rPr lang="en-US" altLang="ja-JP" sz="2000" dirty="0">
                <a:solidFill>
                  <a:srgbClr val="202830"/>
                </a:solidFill>
                <a:latin typeface="Yu Gothic"/>
              </a:rPr>
              <a:t>			</a:t>
            </a:r>
            <a:r>
              <a:rPr lang="ja-JP" altLang="en-US" sz="2000" dirty="0">
                <a:solidFill>
                  <a:srgbClr val="202830"/>
                </a:solidFill>
                <a:latin typeface="Yu Gothic"/>
              </a:rPr>
              <a:t>　レベルデザインを楽にする</a:t>
            </a:r>
            <a:endParaRPr kumimoji="1" lang="en-US" altLang="ja-JP" sz="20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endParaRPr>
          </a:p>
        </p:txBody>
      </p:sp>
    </p:spTree>
    <p:extLst>
      <p:ext uri="{BB962C8B-B14F-4D97-AF65-F5344CB8AC3E}">
        <p14:creationId xmlns:p14="http://schemas.microsoft.com/office/powerpoint/2010/main" val="153546565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lumMod val="20000"/>
            <a:lumOff val="80000"/>
          </a:schemeClr>
        </a:solidFill>
        <a:ln>
          <a:solidFill>
            <a:schemeClr val="accent2">
              <a:lumMod val="50000"/>
            </a:schemeClr>
          </a:solidFill>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sz="2400" dirty="0">
            <a:solidFill>
              <a:srgbClr val="000000"/>
            </a:solidFill>
            <a:latin typeface="HGP創英角ｺﾞｼｯｸUB" panose="020B0900000000000000" pitchFamily="50" charset="-128"/>
            <a:ea typeface="HGP創英角ｺﾞｼｯｸUB" panose="020B0900000000000000" pitchFamily="50" charset="-128"/>
            <a:cs typeface="メイリオ" pitchFamily="50" charset="-128"/>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6A6C361903FA540AF4D79E6EA2B777C" ma:contentTypeVersion="20" ma:contentTypeDescription="新しいドキュメントを作成します。" ma:contentTypeScope="" ma:versionID="c51e6dc635d7884d0c2c325f025ec4a5">
  <xsd:schema xmlns:xsd="http://www.w3.org/2001/XMLSchema" xmlns:xs="http://www.w3.org/2001/XMLSchema" xmlns:p="http://schemas.microsoft.com/office/2006/metadata/properties" xmlns:ns2="aaa52e1c-8772-4366-aa63-bf636c80ebd4" xmlns:ns3="0c73c1f5-50cd-4477-a315-44bef7b8a847" targetNamespace="http://schemas.microsoft.com/office/2006/metadata/properties" ma:root="true" ma:fieldsID="946a030821db90bf783b20c6c950d067" ns2:_="" ns3:_="">
    <xsd:import namespace="aaa52e1c-8772-4366-aa63-bf636c80ebd4"/>
    <xsd:import namespace="0c73c1f5-50cd-4477-a315-44bef7b8a84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_x5b9f__x88c5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a52e1c-8772-4366-aa63-bf636c80eb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7a3d4e50-da24-4b51-9333-67165e7dee8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x5b9f__x88c5_" ma:index="27" nillable="true" ma:displayName="実装" ma:default="0" ma:format="Dropdown" ma:internalName="_x5b9f__x88c5_">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0c73c1f5-50cd-4477-a315-44bef7b8a847"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e53382d8-dd25-4436-a728-185b26683a86}" ma:internalName="TaxCatchAll" ma:showField="CatchAllData" ma:web="0c73c1f5-50cd-4477-a315-44bef7b8a84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c73c1f5-50cd-4477-a315-44bef7b8a847" xsi:nil="true"/>
    <lcf76f155ced4ddcb4097134ff3c332f xmlns="aaa52e1c-8772-4366-aa63-bf636c80ebd4">
      <Terms xmlns="http://schemas.microsoft.com/office/infopath/2007/PartnerControls"/>
    </lcf76f155ced4ddcb4097134ff3c332f>
    <_x5b9f__x88c5_ xmlns="aaa52e1c-8772-4366-aa63-bf636c80ebd4">false</_x5b9f__x88c5_>
  </documentManagement>
</p:properties>
</file>

<file path=customXml/itemProps1.xml><?xml version="1.0" encoding="utf-8"?>
<ds:datastoreItem xmlns:ds="http://schemas.openxmlformats.org/officeDocument/2006/customXml" ds:itemID="{7548941E-71E2-4531-BC0F-EE0D630B2ABC}">
  <ds:schemaRefs>
    <ds:schemaRef ds:uri="http://schemas.microsoft.com/sharepoint/v3/contenttype/forms"/>
  </ds:schemaRefs>
</ds:datastoreItem>
</file>

<file path=customXml/itemProps2.xml><?xml version="1.0" encoding="utf-8"?>
<ds:datastoreItem xmlns:ds="http://schemas.openxmlformats.org/officeDocument/2006/customXml" ds:itemID="{47E87EE0-5E73-4A27-BF52-6B0D128710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a52e1c-8772-4366-aa63-bf636c80ebd4"/>
    <ds:schemaRef ds:uri="0c73c1f5-50cd-4477-a315-44bef7b8a8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9CE55E-098B-4E48-AF86-E65EA21E3ADA}">
  <ds:schemaRefs>
    <ds:schemaRef ds:uri="http://purl.org/dc/dcmitype/"/>
    <ds:schemaRef ds:uri="f9048785-d070-4c78-8f2f-ed2b48eb345c"/>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02709b60-37ec-424b-b681-c6612ac7fe32"/>
    <ds:schemaRef ds:uri="http://www.w3.org/XML/1998/namespace"/>
    <ds:schemaRef ds:uri="0c73c1f5-50cd-4477-a315-44bef7b8a847"/>
    <ds:schemaRef ds:uri="aaa52e1c-8772-4366-aa63-bf636c80ebd4"/>
  </ds:schemaRefs>
</ds:datastoreItem>
</file>

<file path=docProps/app.xml><?xml version="1.0" encoding="utf-8"?>
<Properties xmlns="http://schemas.openxmlformats.org/officeDocument/2006/extended-properties" xmlns:vt="http://schemas.openxmlformats.org/officeDocument/2006/docPropsVTypes">
  <Template>Office Theme</Template>
  <TotalTime>352</TotalTime>
  <Words>559</Words>
  <Application>Microsoft Office PowerPoint</Application>
  <PresentationFormat>ユーザー設定</PresentationFormat>
  <Paragraphs>49</Paragraphs>
  <Slides>4</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vt:i4>
      </vt:variant>
    </vt:vector>
  </HeadingPairs>
  <TitlesOfParts>
    <vt:vector size="12" baseType="lpstr">
      <vt:lpstr>HGP創英角ｺﾞｼｯｸUB</vt:lpstr>
      <vt:lpstr>メイリオ</vt:lpstr>
      <vt:lpstr>Yu Gothic</vt:lpstr>
      <vt:lpstr>Yu Gothic</vt:lpstr>
      <vt:lpstr>Arial</vt:lpstr>
      <vt:lpstr>Calibri</vt:lpstr>
      <vt:lpstr>Calibri Light</vt:lpstr>
      <vt:lpstr>Office テーマ</vt:lpstr>
      <vt:lpstr>ゲーム概要V3</vt:lpstr>
      <vt:lpstr>② ゲーム画面と「駆け引き（面白さ）」を考えよう</vt:lpstr>
      <vt:lpstr>③ 参考ゲームから「面白さ」を見つけよう</vt:lpstr>
      <vt:lpstr>④ 自分の目標を決めよう（氏名：加藤幹萊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アイディアをゲームにしてみよう！</dc:title>
  <dc:creator>坂本　拓也</dc:creator>
  <cp:lastModifiedBy>加藤 幹萊</cp:lastModifiedBy>
  <cp:revision>33</cp:revision>
  <dcterms:created xsi:type="dcterms:W3CDTF">2026-10-05T09:24:36Z</dcterms:created>
  <dcterms:modified xsi:type="dcterms:W3CDTF">2026-10-06T02:49:01Z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0x010100A6A6C361903FA540AF4D79E6EA2B777C</vt:lpwstr>
  </property>
  <property fmtid="{D5CDD505-2E9C-101B-9397-08002B2CF9AE}" pid="3" name="MediaServiceImageTags">
    <vt:lpwstr/>
  </property>
</Properties>
</file>