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8"/>
  </p:notesMasterIdLst>
  <p:handoutMasterIdLst>
    <p:handoutMasterId r:id="rId9"/>
  </p:handoutMasterIdLst>
  <p:sldIdLst>
    <p:sldId id="440" r:id="rId5"/>
    <p:sldId id="441" r:id="rId6"/>
    <p:sldId id="443" r:id="rId7"/>
  </p:sldIdLst>
  <p:sldSz cx="13004800" cy="9753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BE5D6"/>
    <a:srgbClr val="50D042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9D04C5-F22F-6095-15E9-08B7F517784A}" v="7" dt="2026-08-18T23:53:22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72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満生 大地" userId="S::2416039@s.asojuku.ac.jp::67376ed0-5ec9-48cb-9723-cbf4c42ad1e2" providerId="AD" clId="Web-{0C9D04C5-F22F-6095-15E9-08B7F517784A}"/>
    <pc:docChg chg="modSld">
      <pc:chgData name="満生 大地" userId="S::2416039@s.asojuku.ac.jp::67376ed0-5ec9-48cb-9723-cbf4c42ad1e2" providerId="AD" clId="Web-{0C9D04C5-F22F-6095-15E9-08B7F517784A}" dt="2026-08-18T23:53:22.373" v="6" actId="20577"/>
      <pc:docMkLst>
        <pc:docMk/>
      </pc:docMkLst>
      <pc:sldChg chg="modSp">
        <pc:chgData name="満生 大地" userId="S::2416039@s.asojuku.ac.jp::67376ed0-5ec9-48cb-9723-cbf4c42ad1e2" providerId="AD" clId="Web-{0C9D04C5-F22F-6095-15E9-08B7F517784A}" dt="2026-08-18T23:53:22.373" v="6" actId="20577"/>
        <pc:sldMkLst>
          <pc:docMk/>
          <pc:sldMk cId="1920528698" sldId="440"/>
        </pc:sldMkLst>
        <pc:spChg chg="mod">
          <ac:chgData name="満生 大地" userId="S::2416039@s.asojuku.ac.jp::67376ed0-5ec9-48cb-9723-cbf4c42ad1e2" providerId="AD" clId="Web-{0C9D04C5-F22F-6095-15E9-08B7F517784A}" dt="2026-08-18T23:53:22.373" v="6" actId="20577"/>
          <ac:spMkLst>
            <pc:docMk/>
            <pc:sldMk cId="1920528698" sldId="440"/>
            <ac:spMk id="7" creationId="{5EA0190C-6B18-460B-8E7D-D4FE63597C1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CC78B4-D4EA-4E83-A43A-6FA5A0F7D0B3}" type="datetimeFigureOut">
              <a:rPr kumimoji="1" lang="ja-JP" altLang="en-US" smtClean="0"/>
              <a:t>2026/9/14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4F567-5817-4092-8EEB-419011F58E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35217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BB1B21-716A-4773-A420-9B5CE6E28AE2}" type="datetimeFigureOut">
              <a:rPr kumimoji="1" lang="ja-JP" altLang="en-US" smtClean="0"/>
              <a:t>2026/9/14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94227-4E8D-4547-92A9-04B1088AF5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84980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94227-4E8D-4547-92A9-04B1088AF56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9145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94227-4E8D-4547-92A9-04B1088AF56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8570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94227-4E8D-4547-92A9-04B1088AF56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6566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1596249"/>
            <a:ext cx="11054080" cy="3395698"/>
          </a:xfrm>
        </p:spPr>
        <p:txBody>
          <a:bodyPr anchor="b"/>
          <a:lstStyle>
            <a:lvl1pPr algn="ctr">
              <a:defRPr sz="8533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5122898"/>
            <a:ext cx="9753600" cy="2354862"/>
          </a:xfrm>
        </p:spPr>
        <p:txBody>
          <a:bodyPr/>
          <a:lstStyle>
            <a:lvl1pPr marL="0" indent="0" algn="ctr">
              <a:buNone/>
              <a:defRPr sz="3413"/>
            </a:lvl1pPr>
            <a:lvl2pPr marL="650230" indent="0" algn="ctr">
              <a:buNone/>
              <a:defRPr sz="2844"/>
            </a:lvl2pPr>
            <a:lvl3pPr marL="1300460" indent="0" algn="ctr">
              <a:buNone/>
              <a:defRPr sz="2560"/>
            </a:lvl3pPr>
            <a:lvl4pPr marL="1950690" indent="0" algn="ctr">
              <a:buNone/>
              <a:defRPr sz="2276"/>
            </a:lvl4pPr>
            <a:lvl5pPr marL="2600919" indent="0" algn="ctr">
              <a:buNone/>
              <a:defRPr sz="2276"/>
            </a:lvl5pPr>
            <a:lvl6pPr marL="3251149" indent="0" algn="ctr">
              <a:buNone/>
              <a:defRPr sz="2276"/>
            </a:lvl6pPr>
            <a:lvl7pPr marL="3901379" indent="0" algn="ctr">
              <a:buNone/>
              <a:defRPr sz="2276"/>
            </a:lvl7pPr>
            <a:lvl8pPr marL="4551609" indent="0" algn="ctr">
              <a:buNone/>
              <a:defRPr sz="2276"/>
            </a:lvl8pPr>
            <a:lvl9pPr marL="5201839" indent="0" algn="ctr">
              <a:buNone/>
              <a:defRPr sz="2276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26DE7-6362-45FB-80B6-F8887A987F74}" type="datetime1">
              <a:rPr kumimoji="1" lang="ja-JP" altLang="en-US" smtClean="0"/>
              <a:t>2026/9/14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78720" y="9234311"/>
            <a:ext cx="2926080" cy="519289"/>
          </a:xfrm>
        </p:spPr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3123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4F063-2530-4F1C-AB5B-9D9DE17668FE}" type="datetime1">
              <a:rPr kumimoji="1" lang="ja-JP" altLang="en-US" smtClean="0"/>
              <a:t>2026/9/14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78720" y="9223052"/>
            <a:ext cx="2926080" cy="519289"/>
          </a:xfrm>
        </p:spPr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3943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307" y="2431629"/>
            <a:ext cx="11216640" cy="4057226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307" y="6527239"/>
            <a:ext cx="11216640" cy="2133599"/>
          </a:xfrm>
        </p:spPr>
        <p:txBody>
          <a:bodyPr/>
          <a:lstStyle>
            <a:lvl1pPr marL="0" indent="0">
              <a:buNone/>
              <a:defRPr sz="3413">
                <a:solidFill>
                  <a:schemeClr val="tx1"/>
                </a:solidFill>
              </a:defRPr>
            </a:lvl1pPr>
            <a:lvl2pPr marL="6502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2pPr>
            <a:lvl3pPr marL="130046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3pPr>
            <a:lvl4pPr marL="195069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4pPr>
            <a:lvl5pPr marL="260091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5pPr>
            <a:lvl6pPr marL="325114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6pPr>
            <a:lvl7pPr marL="390137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7pPr>
            <a:lvl8pPr marL="455160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8pPr>
            <a:lvl9pPr marL="520183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4A9C-0BE6-426B-BA97-ED8EA34CDCEB}" type="datetime1">
              <a:rPr kumimoji="1" lang="ja-JP" altLang="en-US" smtClean="0"/>
              <a:t>2026/9/14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8100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4080" y="2596444"/>
            <a:ext cx="5527040" cy="618857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83680" y="2596444"/>
            <a:ext cx="5527040" cy="618857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701CC-F81F-4FAE-8D03-865955CA638F}" type="datetime1">
              <a:rPr kumimoji="1" lang="ja-JP" altLang="en-US" smtClean="0"/>
              <a:t>2026/9/14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2766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74" y="519291"/>
            <a:ext cx="11216640" cy="188524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5775" y="2390987"/>
            <a:ext cx="5501639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5775" y="3562773"/>
            <a:ext cx="5501639" cy="524030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83681" y="2390987"/>
            <a:ext cx="5528734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83681" y="3562773"/>
            <a:ext cx="5528734" cy="524030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D44DF-24CA-43E2-9093-3396243AA9AB}" type="datetime1">
              <a:rPr kumimoji="1" lang="ja-JP" altLang="en-US" smtClean="0"/>
              <a:t>2026/9/14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3745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D3613-0D91-4125-A766-A2F45B449B2D}" type="datetime1">
              <a:rPr kumimoji="1" lang="ja-JP" altLang="en-US" smtClean="0"/>
              <a:t>2026/9/14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7032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CBB27-9AAA-41C2-B253-2D106947EC5E}" type="datetime1">
              <a:rPr kumimoji="1" lang="ja-JP" altLang="en-US" smtClean="0"/>
              <a:t>2026/9/14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5633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8734" y="1404340"/>
            <a:ext cx="6583680" cy="6931378"/>
          </a:xfrm>
        </p:spPr>
        <p:txBody>
          <a:bodyPr/>
          <a:lstStyle>
            <a:lvl1pPr>
              <a:defRPr sz="4551"/>
            </a:lvl1pPr>
            <a:lvl2pPr>
              <a:defRPr sz="3982"/>
            </a:lvl2pPr>
            <a:lvl3pPr>
              <a:defRPr sz="3413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D48FA-3FA4-474C-AE70-9A9080B18688}" type="datetime1">
              <a:rPr kumimoji="1" lang="ja-JP" altLang="en-US" smtClean="0"/>
              <a:t>2026/9/14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7973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28734" y="1404340"/>
            <a:ext cx="6583680" cy="6931378"/>
          </a:xfrm>
        </p:spPr>
        <p:txBody>
          <a:bodyPr anchor="t"/>
          <a:lstStyle>
            <a:lvl1pPr marL="0" indent="0">
              <a:buNone/>
              <a:defRPr sz="4551"/>
            </a:lvl1pPr>
            <a:lvl2pPr marL="650230" indent="0">
              <a:buNone/>
              <a:defRPr sz="3982"/>
            </a:lvl2pPr>
            <a:lvl3pPr marL="1300460" indent="0">
              <a:buNone/>
              <a:defRPr sz="3413"/>
            </a:lvl3pPr>
            <a:lvl4pPr marL="1950690" indent="0">
              <a:buNone/>
              <a:defRPr sz="2844"/>
            </a:lvl4pPr>
            <a:lvl5pPr marL="2600919" indent="0">
              <a:buNone/>
              <a:defRPr sz="2844"/>
            </a:lvl5pPr>
            <a:lvl6pPr marL="3251149" indent="0">
              <a:buNone/>
              <a:defRPr sz="2844"/>
            </a:lvl6pPr>
            <a:lvl7pPr marL="3901379" indent="0">
              <a:buNone/>
              <a:defRPr sz="2844"/>
            </a:lvl7pPr>
            <a:lvl8pPr marL="4551609" indent="0">
              <a:buNone/>
              <a:defRPr sz="2844"/>
            </a:lvl8pPr>
            <a:lvl9pPr marL="5201839" indent="0">
              <a:buNone/>
              <a:defRPr sz="2844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450C2-176F-4CDC-A949-402CABB185D5}" type="datetime1">
              <a:rPr kumimoji="1" lang="ja-JP" altLang="en-US" smtClean="0"/>
              <a:t>2026/9/14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6748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C9B59-3BF3-4B80-B26E-7562A8BFA88C}" type="datetime1">
              <a:rPr kumimoji="1" lang="ja-JP" altLang="en-US" smtClean="0"/>
              <a:t>2026/9/14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394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06561" y="519289"/>
            <a:ext cx="2804160" cy="826572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4081" y="519289"/>
            <a:ext cx="8249920" cy="826572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9E815-7981-4C74-AEC5-ED53767866CB}" type="datetime1">
              <a:rPr kumimoji="1" lang="ja-JP" altLang="en-US" smtClean="0"/>
              <a:t>2026/9/14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2476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4080" y="519291"/>
            <a:ext cx="11216640" cy="1885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4080" y="2596444"/>
            <a:ext cx="11216640" cy="618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4080" y="9040144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529F21-9341-413A-8868-D34EC7AB7037}" type="datetime1">
              <a:rPr kumimoji="1" lang="ja-JP" altLang="en-US" smtClean="0"/>
              <a:t>2026/9/14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07840" y="9040144"/>
            <a:ext cx="438912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84640" y="9040144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9391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1300460" rtl="0" eaLnBrk="1" latinLnBrk="0" hangingPunct="1">
        <a:lnSpc>
          <a:spcPct val="90000"/>
        </a:lnSpc>
        <a:spcBef>
          <a:spcPct val="0"/>
        </a:spcBef>
        <a:buNone/>
        <a:defRPr kumimoji="1" sz="62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5115" indent="-325115" algn="l" defTabSz="1300460" rtl="0" eaLnBrk="1" latinLnBrk="0" hangingPunct="1">
        <a:lnSpc>
          <a:spcPct val="90000"/>
        </a:lnSpc>
        <a:spcBef>
          <a:spcPts val="1422"/>
        </a:spcBef>
        <a:buFont typeface="Arial" panose="020B0604020202020204" pitchFamily="34" charset="0"/>
        <a:buChar char="•"/>
        <a:defRPr kumimoji="1" sz="3982" kern="1200">
          <a:solidFill>
            <a:schemeClr val="tx1"/>
          </a:solidFill>
          <a:latin typeface="+mn-lt"/>
          <a:ea typeface="+mn-ea"/>
          <a:cs typeface="+mn-cs"/>
        </a:defRPr>
      </a:lvl1pPr>
      <a:lvl2pPr marL="975345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3413" kern="1200">
          <a:solidFill>
            <a:schemeClr val="tx1"/>
          </a:solidFill>
          <a:latin typeface="+mn-lt"/>
          <a:ea typeface="+mn-ea"/>
          <a:cs typeface="+mn-cs"/>
        </a:defRPr>
      </a:lvl2pPr>
      <a:lvl3pPr marL="1625575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844" kern="1200">
          <a:solidFill>
            <a:schemeClr val="tx1"/>
          </a:solidFill>
          <a:latin typeface="+mn-lt"/>
          <a:ea typeface="+mn-ea"/>
          <a:cs typeface="+mn-cs"/>
        </a:defRPr>
      </a:lvl3pPr>
      <a:lvl4pPr marL="227580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3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57626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49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72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95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5EA0190C-6B18-460B-8E7D-D4FE63597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95" y="251597"/>
            <a:ext cx="12648261" cy="701660"/>
          </a:xfrm>
          <a:solidFill>
            <a:srgbClr val="002060"/>
          </a:solidFill>
          <a:ln w="28575">
            <a:noFill/>
          </a:ln>
        </p:spPr>
        <p:txBody>
          <a:bodyPr anchor="b">
            <a:normAutofit/>
          </a:bodyPr>
          <a:lstStyle/>
          <a:p>
            <a:pPr algn="l"/>
            <a:r>
              <a:rPr lang="ja-JP" altLang="en-US" sz="3600" b="1" dirty="0">
                <a:solidFill>
                  <a:schemeClr val="bg1"/>
                </a:solidFill>
                <a:latin typeface="メイリオ"/>
                <a:ea typeface="メイリオ"/>
              </a:rPr>
              <a:t>ゲーム概要</a:t>
            </a:r>
            <a:endParaRPr lang="ja-JP" altLang="en-US" sz="3600" dirty="0">
              <a:solidFill>
                <a:schemeClr val="bg1"/>
              </a:solidFill>
              <a:latin typeface="Calibri Light"/>
              <a:ea typeface="メイリオ"/>
              <a:cs typeface="Calibri Light"/>
            </a:endParaRPr>
          </a:p>
        </p:txBody>
      </p:sp>
      <p:sp>
        <p:nvSpPr>
          <p:cNvPr id="5" name="円/楕円 4"/>
          <p:cNvSpPr/>
          <p:nvPr/>
        </p:nvSpPr>
        <p:spPr bwMode="auto">
          <a:xfrm>
            <a:off x="12332043" y="518984"/>
            <a:ext cx="799718" cy="799718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0" name="円/楕円 29"/>
          <p:cNvSpPr/>
          <p:nvPr/>
        </p:nvSpPr>
        <p:spPr bwMode="auto">
          <a:xfrm>
            <a:off x="11886731" y="695776"/>
            <a:ext cx="235604" cy="235604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8" name="フローチャート: 端子 7"/>
          <p:cNvSpPr/>
          <p:nvPr/>
        </p:nvSpPr>
        <p:spPr bwMode="auto">
          <a:xfrm rot="18469270">
            <a:off x="11831602" y="-10107"/>
            <a:ext cx="1376043" cy="256021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1" name="フローチャート: 端子 30"/>
          <p:cNvSpPr/>
          <p:nvPr/>
        </p:nvSpPr>
        <p:spPr bwMode="auto">
          <a:xfrm rot="18469270">
            <a:off x="11045329" y="647402"/>
            <a:ext cx="840692" cy="267022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47749FE-12CE-A65E-71C4-957FC987A2C2}"/>
              </a:ext>
            </a:extLst>
          </p:cNvPr>
          <p:cNvSpPr txBox="1"/>
          <p:nvPr/>
        </p:nvSpPr>
        <p:spPr>
          <a:xfrm>
            <a:off x="161551" y="1144913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27D54C-19AA-B8F5-2A89-D0A061324D7C}"/>
              </a:ext>
            </a:extLst>
          </p:cNvPr>
          <p:cNvSpPr txBox="1"/>
          <p:nvPr/>
        </p:nvSpPr>
        <p:spPr>
          <a:xfrm>
            <a:off x="161550" y="2183951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主人公に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ついて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E1B4D02-4CCF-9C29-88C8-E09C46F1247F}"/>
              </a:ext>
            </a:extLst>
          </p:cNvPr>
          <p:cNvSpPr txBox="1"/>
          <p:nvPr/>
        </p:nvSpPr>
        <p:spPr>
          <a:xfrm>
            <a:off x="161549" y="3222989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場所・世界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について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6D0640-A37B-E247-F879-B199C8BBB738}"/>
              </a:ext>
            </a:extLst>
          </p:cNvPr>
          <p:cNvSpPr txBox="1"/>
          <p:nvPr/>
        </p:nvSpPr>
        <p:spPr>
          <a:xfrm>
            <a:off x="161548" y="4262027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メイン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アクション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3C062E1-1FBC-CF9E-D7D0-299D9075DF65}"/>
              </a:ext>
            </a:extLst>
          </p:cNvPr>
          <p:cNvSpPr txBox="1"/>
          <p:nvPr/>
        </p:nvSpPr>
        <p:spPr>
          <a:xfrm>
            <a:off x="161548" y="5301065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目的に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ついて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0D1937F-47C9-9E98-E038-F3A696BE53ED}"/>
              </a:ext>
            </a:extLst>
          </p:cNvPr>
          <p:cNvSpPr txBox="1"/>
          <p:nvPr/>
        </p:nvSpPr>
        <p:spPr>
          <a:xfrm>
            <a:off x="161547" y="6360019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課題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について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6274AE5-110A-93BF-023A-D37A931E03A8}"/>
              </a:ext>
            </a:extLst>
          </p:cNvPr>
          <p:cNvSpPr txBox="1"/>
          <p:nvPr/>
        </p:nvSpPr>
        <p:spPr>
          <a:xfrm>
            <a:off x="161547" y="7418973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ジャンルについて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7F6E648-BCBC-F4E7-CD6E-304F25AC3FA9}"/>
              </a:ext>
            </a:extLst>
          </p:cNvPr>
          <p:cNvSpPr txBox="1"/>
          <p:nvPr/>
        </p:nvSpPr>
        <p:spPr>
          <a:xfrm>
            <a:off x="161547" y="8477927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上記からの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ゲーム概要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75093473-86E9-5510-A652-D4DC4729FBE1}"/>
              </a:ext>
            </a:extLst>
          </p:cNvPr>
          <p:cNvSpPr/>
          <p:nvPr/>
        </p:nvSpPr>
        <p:spPr bwMode="auto">
          <a:xfrm>
            <a:off x="2630987" y="1129524"/>
            <a:ext cx="10182969" cy="954107"/>
          </a:xfrm>
          <a:prstGeom prst="rect">
            <a:avLst/>
          </a:prstGeom>
          <a:noFill/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36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PAW</a:t>
            </a:r>
            <a:r>
              <a:rPr kumimoji="1" lang="ja-JP" altLang="en-US" sz="36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！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E4EDA8D-6CBB-65CD-405E-019448C357EF}"/>
              </a:ext>
            </a:extLst>
          </p:cNvPr>
          <p:cNvSpPr/>
          <p:nvPr/>
        </p:nvSpPr>
        <p:spPr bwMode="auto">
          <a:xfrm>
            <a:off x="2630986" y="2183950"/>
            <a:ext cx="10182969" cy="954107"/>
          </a:xfrm>
          <a:prstGeom prst="rect">
            <a:avLst/>
          </a:prstGeom>
          <a:noFill/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猫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256F112F-2D89-53C0-C836-F91263B9221E}"/>
              </a:ext>
            </a:extLst>
          </p:cNvPr>
          <p:cNvSpPr/>
          <p:nvPr/>
        </p:nvSpPr>
        <p:spPr bwMode="auto">
          <a:xfrm>
            <a:off x="2630985" y="3222989"/>
            <a:ext cx="10182969" cy="954107"/>
          </a:xfrm>
          <a:prstGeom prst="rect">
            <a:avLst/>
          </a:prstGeom>
          <a:noFill/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レストラン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EFF84A64-33D2-4E7D-7086-185E265E1DD3}"/>
              </a:ext>
            </a:extLst>
          </p:cNvPr>
          <p:cNvSpPr/>
          <p:nvPr/>
        </p:nvSpPr>
        <p:spPr bwMode="auto">
          <a:xfrm>
            <a:off x="2630984" y="4262027"/>
            <a:ext cx="10182969" cy="954107"/>
          </a:xfrm>
          <a:prstGeom prst="rect">
            <a:avLst/>
          </a:prstGeom>
          <a:noFill/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移動・猫パンチ・回避・ジャンプ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227BD858-B5CB-684C-0B9F-AA866446F594}"/>
              </a:ext>
            </a:extLst>
          </p:cNvPr>
          <p:cNvSpPr/>
          <p:nvPr/>
        </p:nvSpPr>
        <p:spPr bwMode="auto">
          <a:xfrm>
            <a:off x="2630983" y="5301064"/>
            <a:ext cx="10182969" cy="954107"/>
          </a:xfrm>
          <a:prstGeom prst="rect">
            <a:avLst/>
          </a:prstGeom>
          <a:noFill/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レストランに現れたネズミを撃退する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5A1F7BBA-428A-386C-C598-03A5F3D3D43F}"/>
              </a:ext>
            </a:extLst>
          </p:cNvPr>
          <p:cNvSpPr/>
          <p:nvPr/>
        </p:nvSpPr>
        <p:spPr bwMode="auto">
          <a:xfrm>
            <a:off x="2630983" y="6360019"/>
            <a:ext cx="10182969" cy="954107"/>
          </a:xfrm>
          <a:prstGeom prst="rect">
            <a:avLst/>
          </a:prstGeom>
          <a:noFill/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レベルデザインをしやすい設計、攻撃の補正、イベント</a:t>
            </a:r>
            <a:r>
              <a:rPr kumimoji="1" lang="en-US" altLang="ja-JP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(</a:t>
            </a: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ムービー</a:t>
            </a:r>
            <a:r>
              <a:rPr kumimoji="1" lang="en-US" altLang="ja-JP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)</a:t>
            </a: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、カメラ補正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B45D664A-1D64-5976-3B71-7EECFE8AD818}"/>
              </a:ext>
            </a:extLst>
          </p:cNvPr>
          <p:cNvSpPr/>
          <p:nvPr/>
        </p:nvSpPr>
        <p:spPr bwMode="auto">
          <a:xfrm>
            <a:off x="2630982" y="7418972"/>
            <a:ext cx="10182969" cy="954107"/>
          </a:xfrm>
          <a:prstGeom prst="rect">
            <a:avLst/>
          </a:prstGeom>
          <a:noFill/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3D</a:t>
            </a: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アクションゲーム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2690B3E0-ECA6-E9F7-4934-04F29B0C6336}"/>
              </a:ext>
            </a:extLst>
          </p:cNvPr>
          <p:cNvSpPr/>
          <p:nvPr/>
        </p:nvSpPr>
        <p:spPr bwMode="auto">
          <a:xfrm>
            <a:off x="2630981" y="8477927"/>
            <a:ext cx="10182969" cy="954107"/>
          </a:xfrm>
          <a:prstGeom prst="rect">
            <a:avLst/>
          </a:prstGeom>
          <a:noFill/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kumimoji="1" lang="ja-JP" altLang="en-US" sz="20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猫が、レストランで、移動・猫パンチ・回避・ジャンプをくりかえして、</a:t>
            </a:r>
            <a:endParaRPr kumimoji="1" lang="en-US" altLang="ja-JP" sz="20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kumimoji="1" lang="ja-JP" altLang="en-US" sz="20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操られた配膳ロボットの破壊を達成し、ネズミを撃退する、</a:t>
            </a:r>
            <a:r>
              <a:rPr kumimoji="1" lang="en-US" altLang="ja-JP" sz="20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3D</a:t>
            </a:r>
            <a:r>
              <a:rPr kumimoji="1" lang="ja-JP" altLang="en-US" sz="20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アクションゲーム</a:t>
            </a:r>
            <a:endParaRPr kumimoji="1" lang="en-US" altLang="ja-JP" sz="20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2052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4D8CD27-4148-4714-FFA9-31EF424B6B07}"/>
              </a:ext>
            </a:extLst>
          </p:cNvPr>
          <p:cNvSpPr/>
          <p:nvPr/>
        </p:nvSpPr>
        <p:spPr bwMode="auto">
          <a:xfrm>
            <a:off x="1165089" y="2496689"/>
            <a:ext cx="10649472" cy="5751095"/>
          </a:xfrm>
          <a:prstGeom prst="rect">
            <a:avLst/>
          </a:prstGeom>
          <a:noFill/>
          <a:ln w="38100">
            <a:solidFill>
              <a:srgbClr val="00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5EA0190C-6B18-460B-8E7D-D4FE63597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95" y="251597"/>
            <a:ext cx="12648261" cy="701660"/>
          </a:xfrm>
          <a:solidFill>
            <a:srgbClr val="002060"/>
          </a:solidFill>
          <a:ln w="28575">
            <a:noFill/>
          </a:ln>
        </p:spPr>
        <p:txBody>
          <a:bodyPr anchor="b">
            <a:normAutofit/>
          </a:bodyPr>
          <a:lstStyle/>
          <a:p>
            <a:pPr algn="l"/>
            <a:r>
              <a:rPr lang="ja-JP" altLang="en-US" sz="36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ゲーム画面 イメージ</a:t>
            </a:r>
          </a:p>
        </p:txBody>
      </p:sp>
      <p:sp>
        <p:nvSpPr>
          <p:cNvPr id="5" name="円/楕円 4"/>
          <p:cNvSpPr/>
          <p:nvPr/>
        </p:nvSpPr>
        <p:spPr bwMode="auto">
          <a:xfrm>
            <a:off x="12332043" y="518984"/>
            <a:ext cx="799718" cy="799718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0" name="円/楕円 29"/>
          <p:cNvSpPr/>
          <p:nvPr/>
        </p:nvSpPr>
        <p:spPr bwMode="auto">
          <a:xfrm>
            <a:off x="11886731" y="695776"/>
            <a:ext cx="235604" cy="235604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8" name="フローチャート: 端子 7"/>
          <p:cNvSpPr/>
          <p:nvPr/>
        </p:nvSpPr>
        <p:spPr bwMode="auto">
          <a:xfrm rot="18469270">
            <a:off x="11831602" y="-10107"/>
            <a:ext cx="1376043" cy="256021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1" name="フローチャート: 端子 30"/>
          <p:cNvSpPr/>
          <p:nvPr/>
        </p:nvSpPr>
        <p:spPr bwMode="auto">
          <a:xfrm rot="18469270">
            <a:off x="11045329" y="647402"/>
            <a:ext cx="840692" cy="267022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D7B8C73-158C-0A0F-61F7-7BB7C985E9A7}"/>
              </a:ext>
            </a:extLst>
          </p:cNvPr>
          <p:cNvSpPr txBox="1"/>
          <p:nvPr/>
        </p:nvSpPr>
        <p:spPr>
          <a:xfrm>
            <a:off x="161547" y="1144912"/>
            <a:ext cx="2290636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ゲーム概要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5A59CC64-81B7-812E-632A-088572AF9D71}"/>
              </a:ext>
            </a:extLst>
          </p:cNvPr>
          <p:cNvSpPr/>
          <p:nvPr/>
        </p:nvSpPr>
        <p:spPr bwMode="auto">
          <a:xfrm>
            <a:off x="2630987" y="1129524"/>
            <a:ext cx="10182969" cy="954107"/>
          </a:xfrm>
          <a:prstGeom prst="rect">
            <a:avLst/>
          </a:prstGeom>
          <a:noFill/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kumimoji="1"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猫が、レストランで、移動・猫パンチ・回避・ジャンプをくりかえして、</a:t>
            </a:r>
            <a:endParaRPr kumimoji="1"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kumimoji="1"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操られた配膳ロボットの破壊を達成し、ネズミを撃退する、</a:t>
            </a:r>
            <a:r>
              <a:rPr kumimoji="1" lang="en-US" altLang="ja-JP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3D</a:t>
            </a:r>
            <a:r>
              <a:rPr kumimoji="1"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アクションゲーム</a:t>
            </a:r>
            <a:endParaRPr kumimoji="1"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0203128-9087-24D3-0452-AA69DF50026C}"/>
              </a:ext>
            </a:extLst>
          </p:cNvPr>
          <p:cNvSpPr txBox="1"/>
          <p:nvPr/>
        </p:nvSpPr>
        <p:spPr>
          <a:xfrm>
            <a:off x="161543" y="8477927"/>
            <a:ext cx="2290636" cy="954107"/>
          </a:xfrm>
          <a:prstGeom prst="rect">
            <a:avLst/>
          </a:prstGeom>
          <a:solidFill>
            <a:srgbClr val="002060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kumimoji="1" lang="ja-JP" sz="2800">
                <a:solidFill>
                  <a:schemeClr val="bg1"/>
                </a:solidFill>
                <a:latin typeface="Meiryo"/>
                <a:ea typeface="Meiryo"/>
              </a:rPr>
              <a:t>駆け引き</a:t>
            </a:r>
            <a:endParaRPr lang="en-US" sz="2800">
              <a:solidFill>
                <a:srgbClr val="000000"/>
              </a:solidFill>
              <a:latin typeface="Meiryo"/>
              <a:ea typeface="Meiryo"/>
            </a:endParaRPr>
          </a:p>
          <a:p>
            <a:pPr algn="ctr"/>
            <a:r>
              <a:rPr kumimoji="1" lang="ja-JP" sz="2800">
                <a:solidFill>
                  <a:schemeClr val="bg1"/>
                </a:solidFill>
                <a:latin typeface="Meiryo"/>
                <a:ea typeface="Meiryo"/>
              </a:rPr>
              <a:t>要素！</a:t>
            </a:r>
            <a:endParaRPr kumimoji="1" lang="en-US" sz="2800">
              <a:solidFill>
                <a:schemeClr val="bg1"/>
              </a:solidFill>
              <a:latin typeface="Meiryo"/>
              <a:ea typeface="Meiryo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D4E3BD4-1309-FB58-4ACE-B7250A1F0DA8}"/>
              </a:ext>
            </a:extLst>
          </p:cNvPr>
          <p:cNvSpPr/>
          <p:nvPr/>
        </p:nvSpPr>
        <p:spPr bwMode="auto">
          <a:xfrm>
            <a:off x="2630981" y="8477927"/>
            <a:ext cx="10182969" cy="954107"/>
          </a:xfrm>
          <a:prstGeom prst="rect">
            <a:avLst/>
          </a:prstGeom>
          <a:noFill/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攻撃と回避を切り替え、状況に応じた立ち回りを求められる</a:t>
            </a:r>
          </a:p>
        </p:txBody>
      </p:sp>
      <p:pic>
        <p:nvPicPr>
          <p:cNvPr id="36" name="図 35">
            <a:extLst>
              <a:ext uri="{FF2B5EF4-FFF2-40B4-BE49-F238E27FC236}">
                <a16:creationId xmlns:a16="http://schemas.microsoft.com/office/drawing/2014/main" id="{1B4B84B3-EDA0-3AF2-77DE-D10AB7255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757" y="2536235"/>
            <a:ext cx="10202135" cy="5698849"/>
          </a:xfrm>
          <a:prstGeom prst="rect">
            <a:avLst/>
          </a:prstGeom>
        </p:spPr>
      </p:pic>
      <p:pic>
        <p:nvPicPr>
          <p:cNvPr id="37" name="図 36" descr="お皿のイラスト | かわいいフリー素材集 いらすとや">
            <a:extLst>
              <a:ext uri="{FF2B5EF4-FFF2-40B4-BE49-F238E27FC236}">
                <a16:creationId xmlns:a16="http://schemas.microsoft.com/office/drawing/2014/main" id="{782603C1-FE66-80CF-F6B3-D19BCB0B9C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2465" y="5385659"/>
            <a:ext cx="2064321" cy="954108"/>
          </a:xfrm>
          <a:prstGeom prst="rect">
            <a:avLst/>
          </a:prstGeom>
        </p:spPr>
      </p:pic>
      <p:pic>
        <p:nvPicPr>
          <p:cNvPr id="38" name="図 37" descr="ナイフ・フォーク・スプーンのイラスト | かわいいフリー素材集 いらすとや">
            <a:extLst>
              <a:ext uri="{FF2B5EF4-FFF2-40B4-BE49-F238E27FC236}">
                <a16:creationId xmlns:a16="http://schemas.microsoft.com/office/drawing/2014/main" id="{0AB4C0F4-D448-646C-411C-283A61431C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6184155" y="4237889"/>
            <a:ext cx="338157" cy="1747621"/>
          </a:xfrm>
          <a:prstGeom prst="rect">
            <a:avLst/>
          </a:prstGeom>
        </p:spPr>
      </p:pic>
      <p:pic>
        <p:nvPicPr>
          <p:cNvPr id="39" name="図 38" descr="ナイフ・フォーク・スプーンのイラスト | かわいいフリー素材集 いらすとや">
            <a:extLst>
              <a:ext uri="{FF2B5EF4-FFF2-40B4-BE49-F238E27FC236}">
                <a16:creationId xmlns:a16="http://schemas.microsoft.com/office/drawing/2014/main" id="{C9E15014-5DF9-752A-488F-ADF2A8B2E4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7226202" y="5548319"/>
            <a:ext cx="338159" cy="1727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03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5EA0190C-6B18-460B-8E7D-D4FE63597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95" y="251597"/>
            <a:ext cx="12648261" cy="701660"/>
          </a:xfrm>
          <a:solidFill>
            <a:srgbClr val="002060"/>
          </a:solidFill>
          <a:ln w="28575">
            <a:noFill/>
          </a:ln>
        </p:spPr>
        <p:txBody>
          <a:bodyPr anchor="b">
            <a:normAutofit/>
          </a:bodyPr>
          <a:lstStyle/>
          <a:p>
            <a:pPr algn="l"/>
            <a:r>
              <a:rPr lang="ja-JP" altLang="en-US" sz="36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個人目標設定（加藤幹萊）</a:t>
            </a:r>
          </a:p>
        </p:txBody>
      </p:sp>
      <p:sp>
        <p:nvSpPr>
          <p:cNvPr id="5" name="円/楕円 4"/>
          <p:cNvSpPr/>
          <p:nvPr/>
        </p:nvSpPr>
        <p:spPr bwMode="auto">
          <a:xfrm>
            <a:off x="12332043" y="518984"/>
            <a:ext cx="799718" cy="799718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0" name="円/楕円 29"/>
          <p:cNvSpPr/>
          <p:nvPr/>
        </p:nvSpPr>
        <p:spPr bwMode="auto">
          <a:xfrm>
            <a:off x="11886731" y="695776"/>
            <a:ext cx="235604" cy="235604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8" name="フローチャート: 端子 7"/>
          <p:cNvSpPr/>
          <p:nvPr/>
        </p:nvSpPr>
        <p:spPr bwMode="auto">
          <a:xfrm rot="18469270">
            <a:off x="11831602" y="-10107"/>
            <a:ext cx="1376043" cy="256021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1" name="フローチャート: 端子 30"/>
          <p:cNvSpPr/>
          <p:nvPr/>
        </p:nvSpPr>
        <p:spPr bwMode="auto">
          <a:xfrm rot="18469270">
            <a:off x="11045329" y="647402"/>
            <a:ext cx="840692" cy="267022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4D8CD27-4148-4714-FFA9-31EF424B6B07}"/>
              </a:ext>
            </a:extLst>
          </p:cNvPr>
          <p:cNvSpPr/>
          <p:nvPr/>
        </p:nvSpPr>
        <p:spPr bwMode="auto">
          <a:xfrm>
            <a:off x="165695" y="1193631"/>
            <a:ext cx="12648260" cy="3937169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＜こだわりたいポイント＞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・デバックモードでゲームプレイ中にプレイヤーや敵のパラメータを変更できる設計</a:t>
            </a:r>
            <a:br>
              <a:rPr kumimoji="1" lang="en-US" altLang="ja-JP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</a:b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・攻撃時に範囲内の敵へ吸い付くように補正する攻撃システム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・ゲームプレイの楽しさを高めるイベントシーン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1CF18E6-C5B9-42CD-91DB-E0E6B15B3355}"/>
              </a:ext>
            </a:extLst>
          </p:cNvPr>
          <p:cNvSpPr/>
          <p:nvPr/>
        </p:nvSpPr>
        <p:spPr bwMode="auto">
          <a:xfrm>
            <a:off x="165695" y="5371174"/>
            <a:ext cx="12648260" cy="3937169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＜挑戦する技術＞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・デバック</a:t>
            </a:r>
            <a:r>
              <a:rPr kumimoji="1" lang="en-US" altLang="ja-JP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UI</a:t>
            </a: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によるランタイムパラメータ編集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br>
              <a:rPr kumimoji="1" lang="en-US" altLang="ja-JP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</a:b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・距離・角度によるターゲット選択とホーミング補正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・アニメーションとカメラワークを組み合わせたシーケンス制御によるボス形態変化演出</a:t>
            </a:r>
          </a:p>
        </p:txBody>
      </p:sp>
    </p:spTree>
    <p:extLst>
      <p:ext uri="{BB962C8B-B14F-4D97-AF65-F5344CB8AC3E}">
        <p14:creationId xmlns:p14="http://schemas.microsoft.com/office/powerpoint/2010/main" val="1535465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2">
            <a:lumMod val="20000"/>
            <a:lumOff val="80000"/>
          </a:schemeClr>
        </a:solidFill>
        <a:ln>
          <a:solidFill>
            <a:schemeClr val="accent2">
              <a:lumMod val="50000"/>
            </a:schemeClr>
          </a:solidFill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sz="2400" dirty="0">
            <a:solidFill>
              <a:srgbClr val="000000"/>
            </a:solidFill>
            <a:latin typeface="HGP創英角ｺﾞｼｯｸUB" panose="020B0900000000000000" pitchFamily="50" charset="-128"/>
            <a:ea typeface="HGP創英角ｺﾞｼｯｸUB" panose="020B0900000000000000" pitchFamily="50" charset="-128"/>
            <a:cs typeface="メイリオ" pitchFamily="50" charset="-128"/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C2961D859B1A8B4697EC07BF3C3DAD3B" ma:contentTypeVersion="15" ma:contentTypeDescription="新しいドキュメントを作成します。" ma:contentTypeScope="" ma:versionID="ab0ad3b8596db009aba937b3e43a8a7f">
  <xsd:schema xmlns:xsd="http://www.w3.org/2001/XMLSchema" xmlns:xs="http://www.w3.org/2001/XMLSchema" xmlns:p="http://schemas.microsoft.com/office/2006/metadata/properties" xmlns:ns2="02709b60-37ec-424b-b681-c6612ac7fe32" xmlns:ns3="f9048785-d070-4c78-8f2f-ed2b48eb345c" targetNamespace="http://schemas.microsoft.com/office/2006/metadata/properties" ma:root="true" ma:fieldsID="bd157c9246152f7d64d090db49938ccd" ns2:_="" ns3:_="">
    <xsd:import namespace="02709b60-37ec-424b-b681-c6612ac7fe32"/>
    <xsd:import namespace="f9048785-d070-4c78-8f2f-ed2b48eb34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709b60-37ec-424b-b681-c6612ac7fe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画像タグ" ma:readOnly="false" ma:fieldId="{5cf76f15-5ced-4ddc-b409-7134ff3c332f}" ma:taxonomyMulti="true" ma:sspId="7a3d4e50-da24-4b51-9333-67165e7dee8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048785-d070-4c78-8f2f-ed2b48eb345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c76fc6dc-39d0-4a2e-a4a9-623828d4e622}" ma:internalName="TaxCatchAll" ma:showField="CatchAllData" ma:web="f9048785-d070-4c78-8f2f-ed2b48eb34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9048785-d070-4c78-8f2f-ed2b48eb345c" xsi:nil="true"/>
    <lcf76f155ced4ddcb4097134ff3c332f xmlns="02709b60-37ec-424b-b681-c6612ac7fe3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A7AE9AB-80E8-4F7E-8271-65FC8752E419}">
  <ds:schemaRefs>
    <ds:schemaRef ds:uri="02709b60-37ec-424b-b681-c6612ac7fe32"/>
    <ds:schemaRef ds:uri="f9048785-d070-4c78-8f2f-ed2b48eb345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548941E-71E2-4531-BC0F-EE0D630B2A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CE55E-098B-4E48-AF86-E65EA21E3ADA}">
  <ds:schemaRefs>
    <ds:schemaRef ds:uri="02709b60-37ec-424b-b681-c6612ac7fe32"/>
    <ds:schemaRef ds:uri="0c73c1f5-50cd-4477-a315-44bef7b8a847"/>
    <ds:schemaRef ds:uri="aaa52e1c-8772-4366-aa63-bf636c80ebd4"/>
    <ds:schemaRef ds:uri="f9048785-d070-4c78-8f2f-ed2b48eb345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287</TotalTime>
  <Words>237</Words>
  <Application>Microsoft Office PowerPoint</Application>
  <PresentationFormat>ユーザー設定</PresentationFormat>
  <Paragraphs>46</Paragraphs>
  <Slides>3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10" baseType="lpstr">
      <vt:lpstr>HGP創英角ｺﾞｼｯｸUB</vt:lpstr>
      <vt:lpstr>メイリオ</vt:lpstr>
      <vt:lpstr>メイリオ</vt:lpstr>
      <vt:lpstr>Arial</vt:lpstr>
      <vt:lpstr>Calibri</vt:lpstr>
      <vt:lpstr>Calibri Light</vt:lpstr>
      <vt:lpstr>Office テーマ</vt:lpstr>
      <vt:lpstr>ゲーム概要</vt:lpstr>
      <vt:lpstr>ゲーム画面 イメージ</vt:lpstr>
      <vt:lpstr>個人目標設定（加藤幹萊）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アイディアをゲームにしてみよう！</dc:title>
  <dc:creator>Microsoft アカウント</dc:creator>
  <cp:lastModifiedBy>藤澤 匠</cp:lastModifiedBy>
  <cp:revision>62</cp:revision>
  <dcterms:created xsi:type="dcterms:W3CDTF">2022-03-11T03:47:55Z</dcterms:created>
  <dcterms:modified xsi:type="dcterms:W3CDTF">2026-09-14T08:09:30Z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0x010100C2961D859B1A8B4697EC07BF3C3DAD3B</vt:lpwstr>
  </property>
  <property fmtid="{D5CDD505-2E9C-101B-9397-08002B2CF9AE}" pid="3" name="MediaServiceImageTags">
    <vt:lpwstr/>
  </property>
</Properties>
</file>